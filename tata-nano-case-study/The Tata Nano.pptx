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89" r:id="rId5"/>
    <p:sldId id="286" r:id="rId6"/>
    <p:sldId id="298" r:id="rId7"/>
    <p:sldId id="299" r:id="rId8"/>
    <p:sldId id="300" r:id="rId9"/>
    <p:sldId id="30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1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A2"/>
    <a:srgbClr val="40404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7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B82B64-A984-43C7-94EF-8EAEA791104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610EE71-7275-4F4B-933A-A85AEBB371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Product:</a:t>
          </a:r>
          <a:endParaRPr lang="en-US"/>
        </a:p>
      </dgm:t>
    </dgm:pt>
    <dgm:pt modelId="{074883FD-D6FC-4A10-A532-50B0B3E82081}" type="parTrans" cxnId="{DAB47DFA-DE1E-4F38-90B3-97E3B75BFA23}">
      <dgm:prSet/>
      <dgm:spPr/>
      <dgm:t>
        <a:bodyPr/>
        <a:lstStyle/>
        <a:p>
          <a:endParaRPr lang="en-US"/>
        </a:p>
      </dgm:t>
    </dgm:pt>
    <dgm:pt modelId="{B081F540-F5F4-483A-B8C9-4EA0A3B91CD5}" type="sibTrans" cxnId="{DAB47DFA-DE1E-4F38-90B3-97E3B75BFA23}">
      <dgm:prSet/>
      <dgm:spPr/>
      <dgm:t>
        <a:bodyPr/>
        <a:lstStyle/>
        <a:p>
          <a:endParaRPr lang="en-US"/>
        </a:p>
      </dgm:t>
    </dgm:pt>
    <dgm:pt modelId="{50264EDC-ECD3-4509-9D74-56D16D2E93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Perceived Low Quality:</a:t>
          </a:r>
          <a:r>
            <a:rPr lang="en-US"/>
            <a:t> Cost-cutting measures (noisy engine, basic features) reinforced the "cheap" label.</a:t>
          </a:r>
        </a:p>
      </dgm:t>
    </dgm:pt>
    <dgm:pt modelId="{D6C4ABFF-0EA9-48AE-815C-092B152A4C8F}" type="parTrans" cxnId="{371D4760-75FE-4C87-9A84-E7C91606C20C}">
      <dgm:prSet/>
      <dgm:spPr/>
      <dgm:t>
        <a:bodyPr/>
        <a:lstStyle/>
        <a:p>
          <a:endParaRPr lang="en-US"/>
        </a:p>
      </dgm:t>
    </dgm:pt>
    <dgm:pt modelId="{1A36BBFF-5A79-463E-9B99-593CFF6DB3D4}" type="sibTrans" cxnId="{371D4760-75FE-4C87-9A84-E7C91606C20C}">
      <dgm:prSet/>
      <dgm:spPr/>
      <dgm:t>
        <a:bodyPr/>
        <a:lstStyle/>
        <a:p>
          <a:endParaRPr lang="en-US"/>
        </a:p>
      </dgm:t>
    </dgm:pt>
    <dgm:pt modelId="{B5A789A2-781E-4352-960C-EDAD1A3E3C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Safety Paradox:</a:t>
          </a:r>
          <a:r>
            <a:rPr lang="en-US"/>
            <a:t> Highly publicized fires created a narrative of being </a:t>
          </a:r>
          <a:r>
            <a:rPr lang="en-US" b="1"/>
            <a:t>unsafe</a:t>
          </a:r>
          <a:r>
            <a:rPr lang="en-US"/>
            <a:t>, directly contradicting its core purpose, even though it passed safety tests.</a:t>
          </a:r>
        </a:p>
      </dgm:t>
    </dgm:pt>
    <dgm:pt modelId="{FC25F979-9980-4746-901F-708D98B21684}" type="parTrans" cxnId="{A81F0202-8481-48BA-BED7-9B713618A19C}">
      <dgm:prSet/>
      <dgm:spPr/>
      <dgm:t>
        <a:bodyPr/>
        <a:lstStyle/>
        <a:p>
          <a:endParaRPr lang="en-US"/>
        </a:p>
      </dgm:t>
    </dgm:pt>
    <dgm:pt modelId="{6E1F8A08-B275-45C5-9600-3E7C7E024DAA}" type="sibTrans" cxnId="{A81F0202-8481-48BA-BED7-9B713618A19C}">
      <dgm:prSet/>
      <dgm:spPr/>
      <dgm:t>
        <a:bodyPr/>
        <a:lstStyle/>
        <a:p>
          <a:endParaRPr lang="en-US"/>
        </a:p>
      </dgm:t>
    </dgm:pt>
    <dgm:pt modelId="{0BCC0B4D-891C-448C-A90C-794C960EAE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Price:</a:t>
          </a:r>
          <a:endParaRPr lang="en-US"/>
        </a:p>
      </dgm:t>
    </dgm:pt>
    <dgm:pt modelId="{F3CD6314-172C-47A2-9D41-25FF3B503949}" type="parTrans" cxnId="{23C6B330-69B3-4012-919B-AC368684F347}">
      <dgm:prSet/>
      <dgm:spPr/>
      <dgm:t>
        <a:bodyPr/>
        <a:lstStyle/>
        <a:p>
          <a:endParaRPr lang="en-US"/>
        </a:p>
      </dgm:t>
    </dgm:pt>
    <dgm:pt modelId="{5DC6A0CB-872A-4046-A857-2873B4D7ADE7}" type="sibTrans" cxnId="{23C6B330-69B3-4012-919B-AC368684F347}">
      <dgm:prSet/>
      <dgm:spPr/>
      <dgm:t>
        <a:bodyPr/>
        <a:lstStyle/>
        <a:p>
          <a:endParaRPr lang="en-US"/>
        </a:p>
      </dgm:t>
    </dgm:pt>
    <dgm:pt modelId="{B7B2C064-EBEC-4DC5-A616-DDD1A03364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Negative Stigma:</a:t>
          </a:r>
          <a:r>
            <a:rPr lang="en-US"/>
            <a:t> The Rs. 1 Lakh price was a brand-defining albatross.</a:t>
          </a:r>
        </a:p>
      </dgm:t>
    </dgm:pt>
    <dgm:pt modelId="{CAFCEC1E-7729-475C-9356-5E018B84B937}" type="parTrans" cxnId="{37EDB95C-DCE8-44CA-B867-33F093016828}">
      <dgm:prSet/>
      <dgm:spPr/>
      <dgm:t>
        <a:bodyPr/>
        <a:lstStyle/>
        <a:p>
          <a:endParaRPr lang="en-US"/>
        </a:p>
      </dgm:t>
    </dgm:pt>
    <dgm:pt modelId="{2AC59746-90BD-4BDB-A51F-5DCC738BDB79}" type="sibTrans" cxnId="{37EDB95C-DCE8-44CA-B867-33F093016828}">
      <dgm:prSet/>
      <dgm:spPr/>
      <dgm:t>
        <a:bodyPr/>
        <a:lstStyle/>
        <a:p>
          <a:endParaRPr lang="en-US"/>
        </a:p>
      </dgm:t>
    </dgm:pt>
    <dgm:pt modelId="{0D58FFF0-008D-476E-8C37-0AD7CB8BB3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Broken Promise:</a:t>
          </a:r>
          <a:r>
            <a:rPr lang="en-US"/>
            <a:t> The actual on-road price was much higher, creating a trust deficit with consumers.</a:t>
          </a:r>
        </a:p>
      </dgm:t>
    </dgm:pt>
    <dgm:pt modelId="{BBA27D9B-694D-4692-A32D-094DC801FF42}" type="parTrans" cxnId="{24226010-028C-44EB-85A7-F484FAA62EB5}">
      <dgm:prSet/>
      <dgm:spPr/>
      <dgm:t>
        <a:bodyPr/>
        <a:lstStyle/>
        <a:p>
          <a:endParaRPr lang="en-US"/>
        </a:p>
      </dgm:t>
    </dgm:pt>
    <dgm:pt modelId="{062B9A77-52A2-4AAA-97A8-7E54AA264E93}" type="sibTrans" cxnId="{24226010-028C-44EB-85A7-F484FAA62EB5}">
      <dgm:prSet/>
      <dgm:spPr/>
      <dgm:t>
        <a:bodyPr/>
        <a:lstStyle/>
        <a:p>
          <a:endParaRPr lang="en-US"/>
        </a:p>
      </dgm:t>
    </dgm:pt>
    <dgm:pt modelId="{1DA83E19-ECBF-4613-8DB6-8F2007D6AD1D}" type="pres">
      <dgm:prSet presAssocID="{22B82B64-A984-43C7-94EF-8EAEA7911042}" presName="root" presStyleCnt="0">
        <dgm:presLayoutVars>
          <dgm:dir/>
          <dgm:resizeHandles val="exact"/>
        </dgm:presLayoutVars>
      </dgm:prSet>
      <dgm:spPr/>
    </dgm:pt>
    <dgm:pt modelId="{91A46477-7742-4277-BC9B-325E0456D4A3}" type="pres">
      <dgm:prSet presAssocID="{2610EE71-7275-4F4B-933A-A85AEBB37142}" presName="compNode" presStyleCnt="0"/>
      <dgm:spPr/>
    </dgm:pt>
    <dgm:pt modelId="{BF526FC1-3E41-490C-86F2-CC3788AB13BD}" type="pres">
      <dgm:prSet presAssocID="{2610EE71-7275-4F4B-933A-A85AEBB37142}" presName="bgRect" presStyleLbl="bgShp" presStyleIdx="0" presStyleCnt="6"/>
      <dgm:spPr/>
    </dgm:pt>
    <dgm:pt modelId="{F377EED8-959E-4E74-A385-A621A1FFFCE9}" type="pres">
      <dgm:prSet presAssocID="{2610EE71-7275-4F4B-933A-A85AEBB3714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ising"/>
        </a:ext>
      </dgm:extLst>
    </dgm:pt>
    <dgm:pt modelId="{6F3AE546-FCF2-45A3-8E42-6CDB1A8B2CAB}" type="pres">
      <dgm:prSet presAssocID="{2610EE71-7275-4F4B-933A-A85AEBB37142}" presName="spaceRect" presStyleCnt="0"/>
      <dgm:spPr/>
    </dgm:pt>
    <dgm:pt modelId="{F68C0789-25DF-44EB-A4FF-4EE6145E0F4D}" type="pres">
      <dgm:prSet presAssocID="{2610EE71-7275-4F4B-933A-A85AEBB37142}" presName="parTx" presStyleLbl="revTx" presStyleIdx="0" presStyleCnt="6">
        <dgm:presLayoutVars>
          <dgm:chMax val="0"/>
          <dgm:chPref val="0"/>
        </dgm:presLayoutVars>
      </dgm:prSet>
      <dgm:spPr/>
    </dgm:pt>
    <dgm:pt modelId="{B14FB750-EA94-48E3-BAB3-1CA8C4955AE5}" type="pres">
      <dgm:prSet presAssocID="{B081F540-F5F4-483A-B8C9-4EA0A3B91CD5}" presName="sibTrans" presStyleCnt="0"/>
      <dgm:spPr/>
    </dgm:pt>
    <dgm:pt modelId="{898BFCF7-1E4C-4E5E-9CC3-81DB1BBC4626}" type="pres">
      <dgm:prSet presAssocID="{50264EDC-ECD3-4509-9D74-56D16D2E9330}" presName="compNode" presStyleCnt="0"/>
      <dgm:spPr/>
    </dgm:pt>
    <dgm:pt modelId="{AEA4B127-7B47-4809-ABD0-B2EF24F3252E}" type="pres">
      <dgm:prSet presAssocID="{50264EDC-ECD3-4509-9D74-56D16D2E9330}" presName="bgRect" presStyleLbl="bgShp" presStyleIdx="1" presStyleCnt="6"/>
      <dgm:spPr/>
    </dgm:pt>
    <dgm:pt modelId="{9E83E71B-E579-4C03-A695-ABEA3171A992}" type="pres">
      <dgm:prSet presAssocID="{50264EDC-ECD3-4509-9D74-56D16D2E9330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ssors"/>
        </a:ext>
      </dgm:extLst>
    </dgm:pt>
    <dgm:pt modelId="{8B793371-9428-425B-8EAD-ED63B405DF1E}" type="pres">
      <dgm:prSet presAssocID="{50264EDC-ECD3-4509-9D74-56D16D2E9330}" presName="spaceRect" presStyleCnt="0"/>
      <dgm:spPr/>
    </dgm:pt>
    <dgm:pt modelId="{15E762CF-9E8E-4D4E-9618-99003262F15B}" type="pres">
      <dgm:prSet presAssocID="{50264EDC-ECD3-4509-9D74-56D16D2E9330}" presName="parTx" presStyleLbl="revTx" presStyleIdx="1" presStyleCnt="6">
        <dgm:presLayoutVars>
          <dgm:chMax val="0"/>
          <dgm:chPref val="0"/>
        </dgm:presLayoutVars>
      </dgm:prSet>
      <dgm:spPr/>
    </dgm:pt>
    <dgm:pt modelId="{20FFAF64-3484-4126-8CEB-09C4F364CCC7}" type="pres">
      <dgm:prSet presAssocID="{1A36BBFF-5A79-463E-9B99-593CFF6DB3D4}" presName="sibTrans" presStyleCnt="0"/>
      <dgm:spPr/>
    </dgm:pt>
    <dgm:pt modelId="{4F7E224C-6C90-4AC5-BB1A-BC23E0508346}" type="pres">
      <dgm:prSet presAssocID="{B5A789A2-781E-4352-960C-EDAD1A3E3C70}" presName="compNode" presStyleCnt="0"/>
      <dgm:spPr/>
    </dgm:pt>
    <dgm:pt modelId="{3C58C0F1-9F31-4D1D-AAF3-3B626DBE1185}" type="pres">
      <dgm:prSet presAssocID="{B5A789A2-781E-4352-960C-EDAD1A3E3C70}" presName="bgRect" presStyleLbl="bgShp" presStyleIdx="2" presStyleCnt="6"/>
      <dgm:spPr/>
    </dgm:pt>
    <dgm:pt modelId="{33F84570-67E9-48F4-9502-2805DE53CED6}" type="pres">
      <dgm:prSet presAssocID="{B5A789A2-781E-4352-960C-EDAD1A3E3C70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fighter"/>
        </a:ext>
      </dgm:extLst>
    </dgm:pt>
    <dgm:pt modelId="{EEB89109-154A-41D3-9851-72B2037B11AE}" type="pres">
      <dgm:prSet presAssocID="{B5A789A2-781E-4352-960C-EDAD1A3E3C70}" presName="spaceRect" presStyleCnt="0"/>
      <dgm:spPr/>
    </dgm:pt>
    <dgm:pt modelId="{0F7340A8-C9FE-4F99-B041-8AE71731EB66}" type="pres">
      <dgm:prSet presAssocID="{B5A789A2-781E-4352-960C-EDAD1A3E3C70}" presName="parTx" presStyleLbl="revTx" presStyleIdx="2" presStyleCnt="6">
        <dgm:presLayoutVars>
          <dgm:chMax val="0"/>
          <dgm:chPref val="0"/>
        </dgm:presLayoutVars>
      </dgm:prSet>
      <dgm:spPr/>
    </dgm:pt>
    <dgm:pt modelId="{5EDE2E61-8661-4204-9E30-A57A38B5A361}" type="pres">
      <dgm:prSet presAssocID="{6E1F8A08-B275-45C5-9600-3E7C7E024DAA}" presName="sibTrans" presStyleCnt="0"/>
      <dgm:spPr/>
    </dgm:pt>
    <dgm:pt modelId="{B8105112-FC5E-4A82-B002-365BE0FBE59F}" type="pres">
      <dgm:prSet presAssocID="{0BCC0B4D-891C-448C-A90C-794C960EAE41}" presName="compNode" presStyleCnt="0"/>
      <dgm:spPr/>
    </dgm:pt>
    <dgm:pt modelId="{1EA5B914-1D51-4854-ACFB-A9BEA5622075}" type="pres">
      <dgm:prSet presAssocID="{0BCC0B4D-891C-448C-A90C-794C960EAE41}" presName="bgRect" presStyleLbl="bgShp" presStyleIdx="3" presStyleCnt="6"/>
      <dgm:spPr/>
    </dgm:pt>
    <dgm:pt modelId="{E41660B9-687D-49E3-8F54-B732C6A66730}" type="pres">
      <dgm:prSet presAssocID="{0BCC0B4D-891C-448C-A90C-794C960EAE4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2F7F2FED-B241-4C03-BEF6-8EBDD93A7C5A}" type="pres">
      <dgm:prSet presAssocID="{0BCC0B4D-891C-448C-A90C-794C960EAE41}" presName="spaceRect" presStyleCnt="0"/>
      <dgm:spPr/>
    </dgm:pt>
    <dgm:pt modelId="{D2C3DD58-7789-4199-9B72-AC6427A1EA8B}" type="pres">
      <dgm:prSet presAssocID="{0BCC0B4D-891C-448C-A90C-794C960EAE41}" presName="parTx" presStyleLbl="revTx" presStyleIdx="3" presStyleCnt="6">
        <dgm:presLayoutVars>
          <dgm:chMax val="0"/>
          <dgm:chPref val="0"/>
        </dgm:presLayoutVars>
      </dgm:prSet>
      <dgm:spPr/>
    </dgm:pt>
    <dgm:pt modelId="{24F916A6-16EE-4CC4-A251-137DECA2850E}" type="pres">
      <dgm:prSet presAssocID="{5DC6A0CB-872A-4046-A857-2873B4D7ADE7}" presName="sibTrans" presStyleCnt="0"/>
      <dgm:spPr/>
    </dgm:pt>
    <dgm:pt modelId="{F43C9234-B06F-4BA3-8CFA-C151D7E68096}" type="pres">
      <dgm:prSet presAssocID="{B7B2C064-EBEC-4DC5-A616-DDD1A03364D8}" presName="compNode" presStyleCnt="0"/>
      <dgm:spPr/>
    </dgm:pt>
    <dgm:pt modelId="{E12C77EB-D9D1-450D-982D-B5F8A31D8BF1}" type="pres">
      <dgm:prSet presAssocID="{B7B2C064-EBEC-4DC5-A616-DDD1A03364D8}" presName="bgRect" presStyleLbl="bgShp" presStyleIdx="4" presStyleCnt="6"/>
      <dgm:spPr/>
    </dgm:pt>
    <dgm:pt modelId="{1CA680D6-5573-4A6E-AF59-15EC1499AB38}" type="pres">
      <dgm:prSet presAssocID="{B7B2C064-EBEC-4DC5-A616-DDD1A03364D8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B98658F8-5E16-4A06-8D25-1CA412574713}" type="pres">
      <dgm:prSet presAssocID="{B7B2C064-EBEC-4DC5-A616-DDD1A03364D8}" presName="spaceRect" presStyleCnt="0"/>
      <dgm:spPr/>
    </dgm:pt>
    <dgm:pt modelId="{9C98E8AE-64B4-46DA-9F92-2E9382496D5B}" type="pres">
      <dgm:prSet presAssocID="{B7B2C064-EBEC-4DC5-A616-DDD1A03364D8}" presName="parTx" presStyleLbl="revTx" presStyleIdx="4" presStyleCnt="6">
        <dgm:presLayoutVars>
          <dgm:chMax val="0"/>
          <dgm:chPref val="0"/>
        </dgm:presLayoutVars>
      </dgm:prSet>
      <dgm:spPr/>
    </dgm:pt>
    <dgm:pt modelId="{03BDB27C-9533-4B6B-BB70-978FFBA31E22}" type="pres">
      <dgm:prSet presAssocID="{2AC59746-90BD-4BDB-A51F-5DCC738BDB79}" presName="sibTrans" presStyleCnt="0"/>
      <dgm:spPr/>
    </dgm:pt>
    <dgm:pt modelId="{148FB2E4-E70C-4F36-B832-A09004AA3D11}" type="pres">
      <dgm:prSet presAssocID="{0D58FFF0-008D-476E-8C37-0AD7CB8BB3B0}" presName="compNode" presStyleCnt="0"/>
      <dgm:spPr/>
    </dgm:pt>
    <dgm:pt modelId="{2B4A0D4A-9370-483A-A967-9DB42A3B5E1D}" type="pres">
      <dgm:prSet presAssocID="{0D58FFF0-008D-476E-8C37-0AD7CB8BB3B0}" presName="bgRect" presStyleLbl="bgShp" presStyleIdx="5" presStyleCnt="6"/>
      <dgm:spPr/>
    </dgm:pt>
    <dgm:pt modelId="{20C98044-E7C6-4DD2-AD94-41C6DA81353B}" type="pres">
      <dgm:prSet presAssocID="{0D58FFF0-008D-476E-8C37-0AD7CB8BB3B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4E706BC9-DA6E-408A-BA5D-B95BAD93A6DC}" type="pres">
      <dgm:prSet presAssocID="{0D58FFF0-008D-476E-8C37-0AD7CB8BB3B0}" presName="spaceRect" presStyleCnt="0"/>
      <dgm:spPr/>
    </dgm:pt>
    <dgm:pt modelId="{B6C3DDF9-3F97-4AF4-86B5-44DA41340CEE}" type="pres">
      <dgm:prSet presAssocID="{0D58FFF0-008D-476E-8C37-0AD7CB8BB3B0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A81F0202-8481-48BA-BED7-9B713618A19C}" srcId="{22B82B64-A984-43C7-94EF-8EAEA7911042}" destId="{B5A789A2-781E-4352-960C-EDAD1A3E3C70}" srcOrd="2" destOrd="0" parTransId="{FC25F979-9980-4746-901F-708D98B21684}" sibTransId="{6E1F8A08-B275-45C5-9600-3E7C7E024DAA}"/>
    <dgm:cxn modelId="{24226010-028C-44EB-85A7-F484FAA62EB5}" srcId="{22B82B64-A984-43C7-94EF-8EAEA7911042}" destId="{0D58FFF0-008D-476E-8C37-0AD7CB8BB3B0}" srcOrd="5" destOrd="0" parTransId="{BBA27D9B-694D-4692-A32D-094DC801FF42}" sibTransId="{062B9A77-52A2-4AAA-97A8-7E54AA264E93}"/>
    <dgm:cxn modelId="{23C6B330-69B3-4012-919B-AC368684F347}" srcId="{22B82B64-A984-43C7-94EF-8EAEA7911042}" destId="{0BCC0B4D-891C-448C-A90C-794C960EAE41}" srcOrd="3" destOrd="0" parTransId="{F3CD6314-172C-47A2-9D41-25FF3B503949}" sibTransId="{5DC6A0CB-872A-4046-A857-2873B4D7ADE7}"/>
    <dgm:cxn modelId="{37EDB95C-DCE8-44CA-B867-33F093016828}" srcId="{22B82B64-A984-43C7-94EF-8EAEA7911042}" destId="{B7B2C064-EBEC-4DC5-A616-DDD1A03364D8}" srcOrd="4" destOrd="0" parTransId="{CAFCEC1E-7729-475C-9356-5E018B84B937}" sibTransId="{2AC59746-90BD-4BDB-A51F-5DCC738BDB79}"/>
    <dgm:cxn modelId="{371D4760-75FE-4C87-9A84-E7C91606C20C}" srcId="{22B82B64-A984-43C7-94EF-8EAEA7911042}" destId="{50264EDC-ECD3-4509-9D74-56D16D2E9330}" srcOrd="1" destOrd="0" parTransId="{D6C4ABFF-0EA9-48AE-815C-092B152A4C8F}" sibTransId="{1A36BBFF-5A79-463E-9B99-593CFF6DB3D4}"/>
    <dgm:cxn modelId="{61E7BB65-70C6-4931-9A87-8C8F33054903}" type="presOf" srcId="{B5A789A2-781E-4352-960C-EDAD1A3E3C70}" destId="{0F7340A8-C9FE-4F99-B041-8AE71731EB66}" srcOrd="0" destOrd="0" presId="urn:microsoft.com/office/officeart/2018/2/layout/IconVerticalSolidList"/>
    <dgm:cxn modelId="{A5B47F74-F281-415C-8BF5-51EDDD189E43}" type="presOf" srcId="{0D58FFF0-008D-476E-8C37-0AD7CB8BB3B0}" destId="{B6C3DDF9-3F97-4AF4-86B5-44DA41340CEE}" srcOrd="0" destOrd="0" presId="urn:microsoft.com/office/officeart/2018/2/layout/IconVerticalSolidList"/>
    <dgm:cxn modelId="{301BFD83-AC02-4570-A826-8C43903E2469}" type="presOf" srcId="{0BCC0B4D-891C-448C-A90C-794C960EAE41}" destId="{D2C3DD58-7789-4199-9B72-AC6427A1EA8B}" srcOrd="0" destOrd="0" presId="urn:microsoft.com/office/officeart/2018/2/layout/IconVerticalSolidList"/>
    <dgm:cxn modelId="{D3F466BD-D57E-4878-BAD4-70882589F12F}" type="presOf" srcId="{2610EE71-7275-4F4B-933A-A85AEBB37142}" destId="{F68C0789-25DF-44EB-A4FF-4EE6145E0F4D}" srcOrd="0" destOrd="0" presId="urn:microsoft.com/office/officeart/2018/2/layout/IconVerticalSolidList"/>
    <dgm:cxn modelId="{626C0BC7-7603-4EF9-B894-89202F7431CF}" type="presOf" srcId="{50264EDC-ECD3-4509-9D74-56D16D2E9330}" destId="{15E762CF-9E8E-4D4E-9618-99003262F15B}" srcOrd="0" destOrd="0" presId="urn:microsoft.com/office/officeart/2018/2/layout/IconVerticalSolidList"/>
    <dgm:cxn modelId="{A40428E9-6454-409B-801E-736C1B98ADFE}" type="presOf" srcId="{22B82B64-A984-43C7-94EF-8EAEA7911042}" destId="{1DA83E19-ECBF-4613-8DB6-8F2007D6AD1D}" srcOrd="0" destOrd="0" presId="urn:microsoft.com/office/officeart/2018/2/layout/IconVerticalSolidList"/>
    <dgm:cxn modelId="{D055F3F0-FC06-4B2D-A2D2-1E0A5272E84F}" type="presOf" srcId="{B7B2C064-EBEC-4DC5-A616-DDD1A03364D8}" destId="{9C98E8AE-64B4-46DA-9F92-2E9382496D5B}" srcOrd="0" destOrd="0" presId="urn:microsoft.com/office/officeart/2018/2/layout/IconVerticalSolidList"/>
    <dgm:cxn modelId="{DAB47DFA-DE1E-4F38-90B3-97E3B75BFA23}" srcId="{22B82B64-A984-43C7-94EF-8EAEA7911042}" destId="{2610EE71-7275-4F4B-933A-A85AEBB37142}" srcOrd="0" destOrd="0" parTransId="{074883FD-D6FC-4A10-A532-50B0B3E82081}" sibTransId="{B081F540-F5F4-483A-B8C9-4EA0A3B91CD5}"/>
    <dgm:cxn modelId="{4C20B429-9C1E-40BF-8548-62C051F40CB5}" type="presParOf" srcId="{1DA83E19-ECBF-4613-8DB6-8F2007D6AD1D}" destId="{91A46477-7742-4277-BC9B-325E0456D4A3}" srcOrd="0" destOrd="0" presId="urn:microsoft.com/office/officeart/2018/2/layout/IconVerticalSolidList"/>
    <dgm:cxn modelId="{9B25CDFE-1F03-4B0C-8A8D-B898A022E1FC}" type="presParOf" srcId="{91A46477-7742-4277-BC9B-325E0456D4A3}" destId="{BF526FC1-3E41-490C-86F2-CC3788AB13BD}" srcOrd="0" destOrd="0" presId="urn:microsoft.com/office/officeart/2018/2/layout/IconVerticalSolidList"/>
    <dgm:cxn modelId="{E50BD5B3-D2F6-45AC-9CEB-78C3D1344AF2}" type="presParOf" srcId="{91A46477-7742-4277-BC9B-325E0456D4A3}" destId="{F377EED8-959E-4E74-A385-A621A1FFFCE9}" srcOrd="1" destOrd="0" presId="urn:microsoft.com/office/officeart/2018/2/layout/IconVerticalSolidList"/>
    <dgm:cxn modelId="{00BBDB92-9373-4D28-B89D-360FABC087FD}" type="presParOf" srcId="{91A46477-7742-4277-BC9B-325E0456D4A3}" destId="{6F3AE546-FCF2-45A3-8E42-6CDB1A8B2CAB}" srcOrd="2" destOrd="0" presId="urn:microsoft.com/office/officeart/2018/2/layout/IconVerticalSolidList"/>
    <dgm:cxn modelId="{2722F6D2-7ADA-438A-86F9-6E2EE5A91E3A}" type="presParOf" srcId="{91A46477-7742-4277-BC9B-325E0456D4A3}" destId="{F68C0789-25DF-44EB-A4FF-4EE6145E0F4D}" srcOrd="3" destOrd="0" presId="urn:microsoft.com/office/officeart/2018/2/layout/IconVerticalSolidList"/>
    <dgm:cxn modelId="{000525C4-C04F-4FC9-AB0F-C6CC4C37174B}" type="presParOf" srcId="{1DA83E19-ECBF-4613-8DB6-8F2007D6AD1D}" destId="{B14FB750-EA94-48E3-BAB3-1CA8C4955AE5}" srcOrd="1" destOrd="0" presId="urn:microsoft.com/office/officeart/2018/2/layout/IconVerticalSolidList"/>
    <dgm:cxn modelId="{5824CBF6-ADB8-44B3-8922-6594014824E9}" type="presParOf" srcId="{1DA83E19-ECBF-4613-8DB6-8F2007D6AD1D}" destId="{898BFCF7-1E4C-4E5E-9CC3-81DB1BBC4626}" srcOrd="2" destOrd="0" presId="urn:microsoft.com/office/officeart/2018/2/layout/IconVerticalSolidList"/>
    <dgm:cxn modelId="{399FC3CA-A7F6-4EE8-8E4A-4D73E6C90900}" type="presParOf" srcId="{898BFCF7-1E4C-4E5E-9CC3-81DB1BBC4626}" destId="{AEA4B127-7B47-4809-ABD0-B2EF24F3252E}" srcOrd="0" destOrd="0" presId="urn:microsoft.com/office/officeart/2018/2/layout/IconVerticalSolidList"/>
    <dgm:cxn modelId="{D0FCBFFC-88F1-458C-B491-C06C3086DE87}" type="presParOf" srcId="{898BFCF7-1E4C-4E5E-9CC3-81DB1BBC4626}" destId="{9E83E71B-E579-4C03-A695-ABEA3171A992}" srcOrd="1" destOrd="0" presId="urn:microsoft.com/office/officeart/2018/2/layout/IconVerticalSolidList"/>
    <dgm:cxn modelId="{9D6D5809-9F6C-437C-BE64-50314451461C}" type="presParOf" srcId="{898BFCF7-1E4C-4E5E-9CC3-81DB1BBC4626}" destId="{8B793371-9428-425B-8EAD-ED63B405DF1E}" srcOrd="2" destOrd="0" presId="urn:microsoft.com/office/officeart/2018/2/layout/IconVerticalSolidList"/>
    <dgm:cxn modelId="{57739AA2-744B-4F6B-9C74-B9BB257D0DEB}" type="presParOf" srcId="{898BFCF7-1E4C-4E5E-9CC3-81DB1BBC4626}" destId="{15E762CF-9E8E-4D4E-9618-99003262F15B}" srcOrd="3" destOrd="0" presId="urn:microsoft.com/office/officeart/2018/2/layout/IconVerticalSolidList"/>
    <dgm:cxn modelId="{D429708D-E981-4F78-BAF6-5DEFBF340929}" type="presParOf" srcId="{1DA83E19-ECBF-4613-8DB6-8F2007D6AD1D}" destId="{20FFAF64-3484-4126-8CEB-09C4F364CCC7}" srcOrd="3" destOrd="0" presId="urn:microsoft.com/office/officeart/2018/2/layout/IconVerticalSolidList"/>
    <dgm:cxn modelId="{938BF030-0478-4FF0-8455-8FD2A6333449}" type="presParOf" srcId="{1DA83E19-ECBF-4613-8DB6-8F2007D6AD1D}" destId="{4F7E224C-6C90-4AC5-BB1A-BC23E0508346}" srcOrd="4" destOrd="0" presId="urn:microsoft.com/office/officeart/2018/2/layout/IconVerticalSolidList"/>
    <dgm:cxn modelId="{5A9DB721-E125-4F0B-B368-E327C15B2D7B}" type="presParOf" srcId="{4F7E224C-6C90-4AC5-BB1A-BC23E0508346}" destId="{3C58C0F1-9F31-4D1D-AAF3-3B626DBE1185}" srcOrd="0" destOrd="0" presId="urn:microsoft.com/office/officeart/2018/2/layout/IconVerticalSolidList"/>
    <dgm:cxn modelId="{5748D28B-9546-4965-9FC8-B2633440AF83}" type="presParOf" srcId="{4F7E224C-6C90-4AC5-BB1A-BC23E0508346}" destId="{33F84570-67E9-48F4-9502-2805DE53CED6}" srcOrd="1" destOrd="0" presId="urn:microsoft.com/office/officeart/2018/2/layout/IconVerticalSolidList"/>
    <dgm:cxn modelId="{D17D26BD-D51A-4651-8C99-12437FCCCBB6}" type="presParOf" srcId="{4F7E224C-6C90-4AC5-BB1A-BC23E0508346}" destId="{EEB89109-154A-41D3-9851-72B2037B11AE}" srcOrd="2" destOrd="0" presId="urn:microsoft.com/office/officeart/2018/2/layout/IconVerticalSolidList"/>
    <dgm:cxn modelId="{16165AA7-618D-4CB6-BC1B-158DBD5F7B97}" type="presParOf" srcId="{4F7E224C-6C90-4AC5-BB1A-BC23E0508346}" destId="{0F7340A8-C9FE-4F99-B041-8AE71731EB66}" srcOrd="3" destOrd="0" presId="urn:microsoft.com/office/officeart/2018/2/layout/IconVerticalSolidList"/>
    <dgm:cxn modelId="{0640B8D8-0849-4B1E-B801-94882E8699FB}" type="presParOf" srcId="{1DA83E19-ECBF-4613-8DB6-8F2007D6AD1D}" destId="{5EDE2E61-8661-4204-9E30-A57A38B5A361}" srcOrd="5" destOrd="0" presId="urn:microsoft.com/office/officeart/2018/2/layout/IconVerticalSolidList"/>
    <dgm:cxn modelId="{D8B5B601-06AD-4E28-84FB-1959988755B9}" type="presParOf" srcId="{1DA83E19-ECBF-4613-8DB6-8F2007D6AD1D}" destId="{B8105112-FC5E-4A82-B002-365BE0FBE59F}" srcOrd="6" destOrd="0" presId="urn:microsoft.com/office/officeart/2018/2/layout/IconVerticalSolidList"/>
    <dgm:cxn modelId="{CEC9FFD2-BB46-4EE1-865F-ED451F574929}" type="presParOf" srcId="{B8105112-FC5E-4A82-B002-365BE0FBE59F}" destId="{1EA5B914-1D51-4854-ACFB-A9BEA5622075}" srcOrd="0" destOrd="0" presId="urn:microsoft.com/office/officeart/2018/2/layout/IconVerticalSolidList"/>
    <dgm:cxn modelId="{94531D15-F639-45E0-9416-756385AA8A3C}" type="presParOf" srcId="{B8105112-FC5E-4A82-B002-365BE0FBE59F}" destId="{E41660B9-687D-49E3-8F54-B732C6A66730}" srcOrd="1" destOrd="0" presId="urn:microsoft.com/office/officeart/2018/2/layout/IconVerticalSolidList"/>
    <dgm:cxn modelId="{0443D4F6-7A99-44AE-B9D9-8A209BA8F46F}" type="presParOf" srcId="{B8105112-FC5E-4A82-B002-365BE0FBE59F}" destId="{2F7F2FED-B241-4C03-BEF6-8EBDD93A7C5A}" srcOrd="2" destOrd="0" presId="urn:microsoft.com/office/officeart/2018/2/layout/IconVerticalSolidList"/>
    <dgm:cxn modelId="{E938BE47-392E-4D57-9B9C-81FF7988B1AF}" type="presParOf" srcId="{B8105112-FC5E-4A82-B002-365BE0FBE59F}" destId="{D2C3DD58-7789-4199-9B72-AC6427A1EA8B}" srcOrd="3" destOrd="0" presId="urn:microsoft.com/office/officeart/2018/2/layout/IconVerticalSolidList"/>
    <dgm:cxn modelId="{11CB1B9C-966F-47B4-ABA0-C0D534F6DCA7}" type="presParOf" srcId="{1DA83E19-ECBF-4613-8DB6-8F2007D6AD1D}" destId="{24F916A6-16EE-4CC4-A251-137DECA2850E}" srcOrd="7" destOrd="0" presId="urn:microsoft.com/office/officeart/2018/2/layout/IconVerticalSolidList"/>
    <dgm:cxn modelId="{FEDB6555-9D1C-43A3-87AE-8A404BCFF381}" type="presParOf" srcId="{1DA83E19-ECBF-4613-8DB6-8F2007D6AD1D}" destId="{F43C9234-B06F-4BA3-8CFA-C151D7E68096}" srcOrd="8" destOrd="0" presId="urn:microsoft.com/office/officeart/2018/2/layout/IconVerticalSolidList"/>
    <dgm:cxn modelId="{D27B20BE-D4AC-480B-9A65-B53D41AA6A4D}" type="presParOf" srcId="{F43C9234-B06F-4BA3-8CFA-C151D7E68096}" destId="{E12C77EB-D9D1-450D-982D-B5F8A31D8BF1}" srcOrd="0" destOrd="0" presId="urn:microsoft.com/office/officeart/2018/2/layout/IconVerticalSolidList"/>
    <dgm:cxn modelId="{623069A1-5E1E-47C1-A6BA-684F2420DE4C}" type="presParOf" srcId="{F43C9234-B06F-4BA3-8CFA-C151D7E68096}" destId="{1CA680D6-5573-4A6E-AF59-15EC1499AB38}" srcOrd="1" destOrd="0" presId="urn:microsoft.com/office/officeart/2018/2/layout/IconVerticalSolidList"/>
    <dgm:cxn modelId="{7C9ED073-1FD1-4470-AF24-0D68B38DF50F}" type="presParOf" srcId="{F43C9234-B06F-4BA3-8CFA-C151D7E68096}" destId="{B98658F8-5E16-4A06-8D25-1CA412574713}" srcOrd="2" destOrd="0" presId="urn:microsoft.com/office/officeart/2018/2/layout/IconVerticalSolidList"/>
    <dgm:cxn modelId="{6220A695-8B8F-4A00-BD86-A1F7D5BF6363}" type="presParOf" srcId="{F43C9234-B06F-4BA3-8CFA-C151D7E68096}" destId="{9C98E8AE-64B4-46DA-9F92-2E9382496D5B}" srcOrd="3" destOrd="0" presId="urn:microsoft.com/office/officeart/2018/2/layout/IconVerticalSolidList"/>
    <dgm:cxn modelId="{1DBBC05C-D17B-4F17-B1FB-07D66C03F5BD}" type="presParOf" srcId="{1DA83E19-ECBF-4613-8DB6-8F2007D6AD1D}" destId="{03BDB27C-9533-4B6B-BB70-978FFBA31E22}" srcOrd="9" destOrd="0" presId="urn:microsoft.com/office/officeart/2018/2/layout/IconVerticalSolidList"/>
    <dgm:cxn modelId="{C581F4DB-09D9-4A45-95D5-20E906ECB306}" type="presParOf" srcId="{1DA83E19-ECBF-4613-8DB6-8F2007D6AD1D}" destId="{148FB2E4-E70C-4F36-B832-A09004AA3D11}" srcOrd="10" destOrd="0" presId="urn:microsoft.com/office/officeart/2018/2/layout/IconVerticalSolidList"/>
    <dgm:cxn modelId="{84402D81-2C26-4F97-8BB2-4FA8B6EBFF07}" type="presParOf" srcId="{148FB2E4-E70C-4F36-B832-A09004AA3D11}" destId="{2B4A0D4A-9370-483A-A967-9DB42A3B5E1D}" srcOrd="0" destOrd="0" presId="urn:microsoft.com/office/officeart/2018/2/layout/IconVerticalSolidList"/>
    <dgm:cxn modelId="{1209B5AD-C49D-4993-BEBC-A73E24BC0AAB}" type="presParOf" srcId="{148FB2E4-E70C-4F36-B832-A09004AA3D11}" destId="{20C98044-E7C6-4DD2-AD94-41C6DA81353B}" srcOrd="1" destOrd="0" presId="urn:microsoft.com/office/officeart/2018/2/layout/IconVerticalSolidList"/>
    <dgm:cxn modelId="{3D26ABB6-6CA9-4D7E-8C79-855283FE3A92}" type="presParOf" srcId="{148FB2E4-E70C-4F36-B832-A09004AA3D11}" destId="{4E706BC9-DA6E-408A-BA5D-B95BAD93A6DC}" srcOrd="2" destOrd="0" presId="urn:microsoft.com/office/officeart/2018/2/layout/IconVerticalSolidList"/>
    <dgm:cxn modelId="{D7DB7A74-DDD8-4177-80BD-374617FCEC81}" type="presParOf" srcId="{148FB2E4-E70C-4F36-B832-A09004AA3D11}" destId="{B6C3DDF9-3F97-4AF4-86B5-44DA41340CE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85DEA0-15AE-46D3-86E5-26A7AF54DE66}" type="doc">
      <dgm:prSet loTypeId="urn:microsoft.com/office/officeart/2005/8/layout/default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D8FADED-C890-4811-A9BC-516CBA4B9679}">
      <dgm:prSet/>
      <dgm:spPr/>
      <dgm:t>
        <a:bodyPr/>
        <a:lstStyle/>
        <a:p>
          <a:r>
            <a:rPr lang="en-US" b="1"/>
            <a:t>Place (Distribution):</a:t>
          </a:r>
          <a:endParaRPr lang="en-US"/>
        </a:p>
      </dgm:t>
    </dgm:pt>
    <dgm:pt modelId="{59A251D2-E22A-4D55-BFD4-B93FEEAA72AC}" type="parTrans" cxnId="{9A7521E6-946B-4892-954A-168D0FA6A528}">
      <dgm:prSet/>
      <dgm:spPr/>
      <dgm:t>
        <a:bodyPr/>
        <a:lstStyle/>
        <a:p>
          <a:endParaRPr lang="en-US"/>
        </a:p>
      </dgm:t>
    </dgm:pt>
    <dgm:pt modelId="{96619288-CE90-4EB6-BA2F-5A14929E492C}" type="sibTrans" cxnId="{9A7521E6-946B-4892-954A-168D0FA6A528}">
      <dgm:prSet/>
      <dgm:spPr/>
      <dgm:t>
        <a:bodyPr/>
        <a:lstStyle/>
        <a:p>
          <a:endParaRPr lang="en-US"/>
        </a:p>
      </dgm:t>
    </dgm:pt>
    <dgm:pt modelId="{DBEE8CCF-E3DD-42C9-A7AD-6350C55204FB}">
      <dgm:prSet/>
      <dgm:spPr/>
      <dgm:t>
        <a:bodyPr/>
        <a:lstStyle/>
        <a:p>
          <a:r>
            <a:rPr lang="en-US" b="1"/>
            <a:t>Production Delays:</a:t>
          </a:r>
          <a:r>
            <a:rPr lang="en-US"/>
            <a:t> The factory relocation from Singur to Sanand killed the initial market momentum.</a:t>
          </a:r>
        </a:p>
      </dgm:t>
    </dgm:pt>
    <dgm:pt modelId="{C383EAC6-B729-4675-97CF-713BB72DF248}" type="parTrans" cxnId="{CDB90317-9223-4244-83C9-2D3155DDFD0E}">
      <dgm:prSet/>
      <dgm:spPr/>
      <dgm:t>
        <a:bodyPr/>
        <a:lstStyle/>
        <a:p>
          <a:endParaRPr lang="en-US"/>
        </a:p>
      </dgm:t>
    </dgm:pt>
    <dgm:pt modelId="{955FB225-6AFB-4968-BB83-56FE21162EAD}" type="sibTrans" cxnId="{CDB90317-9223-4244-83C9-2D3155DDFD0E}">
      <dgm:prSet/>
      <dgm:spPr/>
      <dgm:t>
        <a:bodyPr/>
        <a:lstStyle/>
        <a:p>
          <a:endParaRPr lang="en-US"/>
        </a:p>
      </dgm:t>
    </dgm:pt>
    <dgm:pt modelId="{AE504849-9B29-400C-A96A-F0CB66F8546E}">
      <dgm:prSet/>
      <dgm:spPr/>
      <dgm:t>
        <a:bodyPr/>
        <a:lstStyle/>
        <a:p>
          <a:r>
            <a:rPr lang="en-US" b="1"/>
            <a:t>Mismatched Channel:</a:t>
          </a:r>
          <a:r>
            <a:rPr lang="en-US"/>
            <a:t> Urban showrooms were physically and psychologically inaccessible to the target rural and semi-urban customers.</a:t>
          </a:r>
        </a:p>
      </dgm:t>
    </dgm:pt>
    <dgm:pt modelId="{CB9E118E-2B87-414B-90C1-547B4F923285}" type="parTrans" cxnId="{C6C79B18-4D2B-4D34-9020-0EA8E4C701D2}">
      <dgm:prSet/>
      <dgm:spPr/>
      <dgm:t>
        <a:bodyPr/>
        <a:lstStyle/>
        <a:p>
          <a:endParaRPr lang="en-US"/>
        </a:p>
      </dgm:t>
    </dgm:pt>
    <dgm:pt modelId="{BCCCB174-6A96-4AA1-A8D7-26C10754538C}" type="sibTrans" cxnId="{C6C79B18-4D2B-4D34-9020-0EA8E4C701D2}">
      <dgm:prSet/>
      <dgm:spPr/>
      <dgm:t>
        <a:bodyPr/>
        <a:lstStyle/>
        <a:p>
          <a:endParaRPr lang="en-US"/>
        </a:p>
      </dgm:t>
    </dgm:pt>
    <dgm:pt modelId="{55C6727C-7BDB-42E2-A361-640CFC85C426}">
      <dgm:prSet/>
      <dgm:spPr/>
      <dgm:t>
        <a:bodyPr/>
        <a:lstStyle/>
        <a:p>
          <a:r>
            <a:rPr lang="en-US" b="1"/>
            <a:t>Promotion:</a:t>
          </a:r>
          <a:endParaRPr lang="en-US"/>
        </a:p>
      </dgm:t>
    </dgm:pt>
    <dgm:pt modelId="{AB5967D8-73B4-431E-B32A-82176DCD9A58}" type="parTrans" cxnId="{899C3B65-68B7-4561-9044-F2DB29BE0D9D}">
      <dgm:prSet/>
      <dgm:spPr/>
      <dgm:t>
        <a:bodyPr/>
        <a:lstStyle/>
        <a:p>
          <a:endParaRPr lang="en-US"/>
        </a:p>
      </dgm:t>
    </dgm:pt>
    <dgm:pt modelId="{7F98F6BC-EF21-44B2-95BB-02BD6CCBAF3A}" type="sibTrans" cxnId="{899C3B65-68B7-4561-9044-F2DB29BE0D9D}">
      <dgm:prSet/>
      <dgm:spPr/>
      <dgm:t>
        <a:bodyPr/>
        <a:lstStyle/>
        <a:p>
          <a:endParaRPr lang="en-US"/>
        </a:p>
      </dgm:t>
    </dgm:pt>
    <dgm:pt modelId="{DCA22C60-2E66-4645-8478-87B5AC46FDEC}">
      <dgm:prSet/>
      <dgm:spPr/>
      <dgm:t>
        <a:bodyPr/>
        <a:lstStyle/>
        <a:p>
          <a:r>
            <a:rPr lang="en-US" b="1" dirty="0"/>
            <a:t>Reinforced "Cheap" Image:</a:t>
          </a:r>
          <a:r>
            <a:rPr lang="en-US" dirty="0"/>
            <a:t> Ads focused on function, not aspiration, often comparing the Nano to a scooter, not a "real car.“</a:t>
          </a:r>
          <a:br>
            <a:rPr lang="en-US" dirty="0"/>
          </a:br>
          <a:r>
            <a:rPr lang="en-US" dirty="0"/>
            <a:t>Tagline: “</a:t>
          </a:r>
          <a:r>
            <a:rPr lang="en-US" dirty="0" err="1"/>
            <a:t>Khushiyon</a:t>
          </a:r>
          <a:r>
            <a:rPr lang="en-US" dirty="0"/>
            <a:t> ki Chabbi” failed to resonate.</a:t>
          </a:r>
        </a:p>
      </dgm:t>
    </dgm:pt>
    <dgm:pt modelId="{91DA51B4-0496-4E01-84E5-3E702EF30ABE}" type="parTrans" cxnId="{23C5B8FA-706C-4B92-875A-B9C6CBA09DC5}">
      <dgm:prSet/>
      <dgm:spPr/>
      <dgm:t>
        <a:bodyPr/>
        <a:lstStyle/>
        <a:p>
          <a:endParaRPr lang="en-US"/>
        </a:p>
      </dgm:t>
    </dgm:pt>
    <dgm:pt modelId="{CDCBCE68-BA6B-474C-9F99-E1825C3A83DA}" type="sibTrans" cxnId="{23C5B8FA-706C-4B92-875A-B9C6CBA09DC5}">
      <dgm:prSet/>
      <dgm:spPr/>
      <dgm:t>
        <a:bodyPr/>
        <a:lstStyle/>
        <a:p>
          <a:endParaRPr lang="en-US"/>
        </a:p>
      </dgm:t>
    </dgm:pt>
    <dgm:pt modelId="{C50880C0-6FDE-40A7-A468-29DCCF9135CC}">
      <dgm:prSet/>
      <dgm:spPr/>
      <dgm:t>
        <a:bodyPr/>
        <a:lstStyle/>
        <a:p>
          <a:r>
            <a:rPr lang="en-US" b="1"/>
            <a:t>Poor PR:</a:t>
          </a:r>
          <a:r>
            <a:rPr lang="en-US"/>
            <a:t> The response to the fire incidents was slow and defensive, failing to manage public fear.</a:t>
          </a:r>
        </a:p>
      </dgm:t>
    </dgm:pt>
    <dgm:pt modelId="{D8A552DB-BD8E-4705-80F0-9EF452203BE1}" type="parTrans" cxnId="{4AC00D3D-E9DE-4BD4-83D0-06C47AF6B47E}">
      <dgm:prSet/>
      <dgm:spPr/>
      <dgm:t>
        <a:bodyPr/>
        <a:lstStyle/>
        <a:p>
          <a:endParaRPr lang="en-US"/>
        </a:p>
      </dgm:t>
    </dgm:pt>
    <dgm:pt modelId="{E2F42947-5F26-4D4E-A85E-D45574072793}" type="sibTrans" cxnId="{4AC00D3D-E9DE-4BD4-83D0-06C47AF6B47E}">
      <dgm:prSet/>
      <dgm:spPr/>
      <dgm:t>
        <a:bodyPr/>
        <a:lstStyle/>
        <a:p>
          <a:endParaRPr lang="en-US"/>
        </a:p>
      </dgm:t>
    </dgm:pt>
    <dgm:pt modelId="{59BF805A-72FF-4EF4-96C7-2A9A8FFA1D21}" type="pres">
      <dgm:prSet presAssocID="{4785DEA0-15AE-46D3-86E5-26A7AF54DE66}" presName="diagram" presStyleCnt="0">
        <dgm:presLayoutVars>
          <dgm:dir/>
          <dgm:resizeHandles val="exact"/>
        </dgm:presLayoutVars>
      </dgm:prSet>
      <dgm:spPr/>
    </dgm:pt>
    <dgm:pt modelId="{ABAD994E-D25A-46C2-8877-3BA2A034D339}" type="pres">
      <dgm:prSet presAssocID="{AD8FADED-C890-4811-A9BC-516CBA4B9679}" presName="node" presStyleLbl="node1" presStyleIdx="0" presStyleCnt="6">
        <dgm:presLayoutVars>
          <dgm:bulletEnabled val="1"/>
        </dgm:presLayoutVars>
      </dgm:prSet>
      <dgm:spPr/>
    </dgm:pt>
    <dgm:pt modelId="{3DF33A01-5008-4D80-9707-BBFF8B968FC4}" type="pres">
      <dgm:prSet presAssocID="{96619288-CE90-4EB6-BA2F-5A14929E492C}" presName="sibTrans" presStyleCnt="0"/>
      <dgm:spPr/>
    </dgm:pt>
    <dgm:pt modelId="{BCD81878-4456-435C-80BB-AFCD8CD96F8A}" type="pres">
      <dgm:prSet presAssocID="{DBEE8CCF-E3DD-42C9-A7AD-6350C55204FB}" presName="node" presStyleLbl="node1" presStyleIdx="1" presStyleCnt="6">
        <dgm:presLayoutVars>
          <dgm:bulletEnabled val="1"/>
        </dgm:presLayoutVars>
      </dgm:prSet>
      <dgm:spPr/>
    </dgm:pt>
    <dgm:pt modelId="{879E3767-D18E-448F-A317-1E45538C8159}" type="pres">
      <dgm:prSet presAssocID="{955FB225-6AFB-4968-BB83-56FE21162EAD}" presName="sibTrans" presStyleCnt="0"/>
      <dgm:spPr/>
    </dgm:pt>
    <dgm:pt modelId="{BD53E433-82C7-424E-9B60-70C5C66D14F3}" type="pres">
      <dgm:prSet presAssocID="{AE504849-9B29-400C-A96A-F0CB66F8546E}" presName="node" presStyleLbl="node1" presStyleIdx="2" presStyleCnt="6">
        <dgm:presLayoutVars>
          <dgm:bulletEnabled val="1"/>
        </dgm:presLayoutVars>
      </dgm:prSet>
      <dgm:spPr/>
    </dgm:pt>
    <dgm:pt modelId="{804821CC-B79C-4069-A78B-9625940E9303}" type="pres">
      <dgm:prSet presAssocID="{BCCCB174-6A96-4AA1-A8D7-26C10754538C}" presName="sibTrans" presStyleCnt="0"/>
      <dgm:spPr/>
    </dgm:pt>
    <dgm:pt modelId="{85F03451-5FBB-412D-91C3-1BCF16FE7001}" type="pres">
      <dgm:prSet presAssocID="{55C6727C-7BDB-42E2-A361-640CFC85C426}" presName="node" presStyleLbl="node1" presStyleIdx="3" presStyleCnt="6">
        <dgm:presLayoutVars>
          <dgm:bulletEnabled val="1"/>
        </dgm:presLayoutVars>
      </dgm:prSet>
      <dgm:spPr/>
    </dgm:pt>
    <dgm:pt modelId="{B04FD588-81D7-483B-B876-DAA22ED40BAF}" type="pres">
      <dgm:prSet presAssocID="{7F98F6BC-EF21-44B2-95BB-02BD6CCBAF3A}" presName="sibTrans" presStyleCnt="0"/>
      <dgm:spPr/>
    </dgm:pt>
    <dgm:pt modelId="{744F7FC4-0F8A-4611-8790-95874A8FCE46}" type="pres">
      <dgm:prSet presAssocID="{DCA22C60-2E66-4645-8478-87B5AC46FDEC}" presName="node" presStyleLbl="node1" presStyleIdx="4" presStyleCnt="6">
        <dgm:presLayoutVars>
          <dgm:bulletEnabled val="1"/>
        </dgm:presLayoutVars>
      </dgm:prSet>
      <dgm:spPr/>
    </dgm:pt>
    <dgm:pt modelId="{4FF093A8-0BAD-48C3-8DD4-FE3DF3B11CF7}" type="pres">
      <dgm:prSet presAssocID="{CDCBCE68-BA6B-474C-9F99-E1825C3A83DA}" presName="sibTrans" presStyleCnt="0"/>
      <dgm:spPr/>
    </dgm:pt>
    <dgm:pt modelId="{DD92F004-F397-47E4-B2E7-D7BF2A5660ED}" type="pres">
      <dgm:prSet presAssocID="{C50880C0-6FDE-40A7-A468-29DCCF9135CC}" presName="node" presStyleLbl="node1" presStyleIdx="5" presStyleCnt="6">
        <dgm:presLayoutVars>
          <dgm:bulletEnabled val="1"/>
        </dgm:presLayoutVars>
      </dgm:prSet>
      <dgm:spPr/>
    </dgm:pt>
  </dgm:ptLst>
  <dgm:cxnLst>
    <dgm:cxn modelId="{CDB90317-9223-4244-83C9-2D3155DDFD0E}" srcId="{4785DEA0-15AE-46D3-86E5-26A7AF54DE66}" destId="{DBEE8CCF-E3DD-42C9-A7AD-6350C55204FB}" srcOrd="1" destOrd="0" parTransId="{C383EAC6-B729-4675-97CF-713BB72DF248}" sibTransId="{955FB225-6AFB-4968-BB83-56FE21162EAD}"/>
    <dgm:cxn modelId="{C6C79B18-4D2B-4D34-9020-0EA8E4C701D2}" srcId="{4785DEA0-15AE-46D3-86E5-26A7AF54DE66}" destId="{AE504849-9B29-400C-A96A-F0CB66F8546E}" srcOrd="2" destOrd="0" parTransId="{CB9E118E-2B87-414B-90C1-547B4F923285}" sibTransId="{BCCCB174-6A96-4AA1-A8D7-26C10754538C}"/>
    <dgm:cxn modelId="{4AC00D3D-E9DE-4BD4-83D0-06C47AF6B47E}" srcId="{4785DEA0-15AE-46D3-86E5-26A7AF54DE66}" destId="{C50880C0-6FDE-40A7-A468-29DCCF9135CC}" srcOrd="5" destOrd="0" parTransId="{D8A552DB-BD8E-4705-80F0-9EF452203BE1}" sibTransId="{E2F42947-5F26-4D4E-A85E-D45574072793}"/>
    <dgm:cxn modelId="{A3CC3A61-3D99-4CB8-A617-006839D8D87F}" type="presOf" srcId="{DCA22C60-2E66-4645-8478-87B5AC46FDEC}" destId="{744F7FC4-0F8A-4611-8790-95874A8FCE46}" srcOrd="0" destOrd="0" presId="urn:microsoft.com/office/officeart/2005/8/layout/default"/>
    <dgm:cxn modelId="{899C3B65-68B7-4561-9044-F2DB29BE0D9D}" srcId="{4785DEA0-15AE-46D3-86E5-26A7AF54DE66}" destId="{55C6727C-7BDB-42E2-A361-640CFC85C426}" srcOrd="3" destOrd="0" parTransId="{AB5967D8-73B4-431E-B32A-82176DCD9A58}" sibTransId="{7F98F6BC-EF21-44B2-95BB-02BD6CCBAF3A}"/>
    <dgm:cxn modelId="{C8E6264D-BC23-4D88-8279-BBEFFEF59315}" type="presOf" srcId="{DBEE8CCF-E3DD-42C9-A7AD-6350C55204FB}" destId="{BCD81878-4456-435C-80BB-AFCD8CD96F8A}" srcOrd="0" destOrd="0" presId="urn:microsoft.com/office/officeart/2005/8/layout/default"/>
    <dgm:cxn modelId="{99927697-05F0-4F06-9505-41C103AB8B6C}" type="presOf" srcId="{C50880C0-6FDE-40A7-A468-29DCCF9135CC}" destId="{DD92F004-F397-47E4-B2E7-D7BF2A5660ED}" srcOrd="0" destOrd="0" presId="urn:microsoft.com/office/officeart/2005/8/layout/default"/>
    <dgm:cxn modelId="{2F2843A8-F586-4F76-ACA3-A9ACB4963E16}" type="presOf" srcId="{AD8FADED-C890-4811-A9BC-516CBA4B9679}" destId="{ABAD994E-D25A-46C2-8877-3BA2A034D339}" srcOrd="0" destOrd="0" presId="urn:microsoft.com/office/officeart/2005/8/layout/default"/>
    <dgm:cxn modelId="{8B9535C6-4B24-4F98-A3CF-7289BE0A0E29}" type="presOf" srcId="{55C6727C-7BDB-42E2-A361-640CFC85C426}" destId="{85F03451-5FBB-412D-91C3-1BCF16FE7001}" srcOrd="0" destOrd="0" presId="urn:microsoft.com/office/officeart/2005/8/layout/default"/>
    <dgm:cxn modelId="{BFD83ACB-95A8-46C9-973F-BF31C83FD113}" type="presOf" srcId="{AE504849-9B29-400C-A96A-F0CB66F8546E}" destId="{BD53E433-82C7-424E-9B60-70C5C66D14F3}" srcOrd="0" destOrd="0" presId="urn:microsoft.com/office/officeart/2005/8/layout/default"/>
    <dgm:cxn modelId="{9A7521E6-946B-4892-954A-168D0FA6A528}" srcId="{4785DEA0-15AE-46D3-86E5-26A7AF54DE66}" destId="{AD8FADED-C890-4811-A9BC-516CBA4B9679}" srcOrd="0" destOrd="0" parTransId="{59A251D2-E22A-4D55-BFD4-B93FEEAA72AC}" sibTransId="{96619288-CE90-4EB6-BA2F-5A14929E492C}"/>
    <dgm:cxn modelId="{07BEDFEE-9F85-46E1-8AEA-0098891A2B31}" type="presOf" srcId="{4785DEA0-15AE-46D3-86E5-26A7AF54DE66}" destId="{59BF805A-72FF-4EF4-96C7-2A9A8FFA1D21}" srcOrd="0" destOrd="0" presId="urn:microsoft.com/office/officeart/2005/8/layout/default"/>
    <dgm:cxn modelId="{23C5B8FA-706C-4B92-875A-B9C6CBA09DC5}" srcId="{4785DEA0-15AE-46D3-86E5-26A7AF54DE66}" destId="{DCA22C60-2E66-4645-8478-87B5AC46FDEC}" srcOrd="4" destOrd="0" parTransId="{91DA51B4-0496-4E01-84E5-3E702EF30ABE}" sibTransId="{CDCBCE68-BA6B-474C-9F99-E1825C3A83DA}"/>
    <dgm:cxn modelId="{6D1B3F83-2F28-43DF-9D72-D24723E5402B}" type="presParOf" srcId="{59BF805A-72FF-4EF4-96C7-2A9A8FFA1D21}" destId="{ABAD994E-D25A-46C2-8877-3BA2A034D339}" srcOrd="0" destOrd="0" presId="urn:microsoft.com/office/officeart/2005/8/layout/default"/>
    <dgm:cxn modelId="{1178F2B6-28C4-4A77-9C59-E43C51B36598}" type="presParOf" srcId="{59BF805A-72FF-4EF4-96C7-2A9A8FFA1D21}" destId="{3DF33A01-5008-4D80-9707-BBFF8B968FC4}" srcOrd="1" destOrd="0" presId="urn:microsoft.com/office/officeart/2005/8/layout/default"/>
    <dgm:cxn modelId="{FDD06F0F-1AE1-4ABA-943F-D592FD765494}" type="presParOf" srcId="{59BF805A-72FF-4EF4-96C7-2A9A8FFA1D21}" destId="{BCD81878-4456-435C-80BB-AFCD8CD96F8A}" srcOrd="2" destOrd="0" presId="urn:microsoft.com/office/officeart/2005/8/layout/default"/>
    <dgm:cxn modelId="{E074BF80-1AD7-4317-93A1-62BBF9B76E36}" type="presParOf" srcId="{59BF805A-72FF-4EF4-96C7-2A9A8FFA1D21}" destId="{879E3767-D18E-448F-A317-1E45538C8159}" srcOrd="3" destOrd="0" presId="urn:microsoft.com/office/officeart/2005/8/layout/default"/>
    <dgm:cxn modelId="{E03AE904-C3DF-4290-B511-479413B5F7A2}" type="presParOf" srcId="{59BF805A-72FF-4EF4-96C7-2A9A8FFA1D21}" destId="{BD53E433-82C7-424E-9B60-70C5C66D14F3}" srcOrd="4" destOrd="0" presId="urn:microsoft.com/office/officeart/2005/8/layout/default"/>
    <dgm:cxn modelId="{719246A0-CA91-4D51-B8F6-157150E2E40A}" type="presParOf" srcId="{59BF805A-72FF-4EF4-96C7-2A9A8FFA1D21}" destId="{804821CC-B79C-4069-A78B-9625940E9303}" srcOrd="5" destOrd="0" presId="urn:microsoft.com/office/officeart/2005/8/layout/default"/>
    <dgm:cxn modelId="{F69013DE-6FDD-460F-8B78-337DC583E545}" type="presParOf" srcId="{59BF805A-72FF-4EF4-96C7-2A9A8FFA1D21}" destId="{85F03451-5FBB-412D-91C3-1BCF16FE7001}" srcOrd="6" destOrd="0" presId="urn:microsoft.com/office/officeart/2005/8/layout/default"/>
    <dgm:cxn modelId="{CD79E003-0116-4ECD-BDFA-E7FF19687976}" type="presParOf" srcId="{59BF805A-72FF-4EF4-96C7-2A9A8FFA1D21}" destId="{B04FD588-81D7-483B-B876-DAA22ED40BAF}" srcOrd="7" destOrd="0" presId="urn:microsoft.com/office/officeart/2005/8/layout/default"/>
    <dgm:cxn modelId="{89F9DBB5-0960-47E3-BB58-F821BD6F2D8D}" type="presParOf" srcId="{59BF805A-72FF-4EF4-96C7-2A9A8FFA1D21}" destId="{744F7FC4-0F8A-4611-8790-95874A8FCE46}" srcOrd="8" destOrd="0" presId="urn:microsoft.com/office/officeart/2005/8/layout/default"/>
    <dgm:cxn modelId="{C0DA3D6D-EBFC-4C9E-9510-05CE835F9C79}" type="presParOf" srcId="{59BF805A-72FF-4EF4-96C7-2A9A8FFA1D21}" destId="{4FF093A8-0BAD-48C3-8DD4-FE3DF3B11CF7}" srcOrd="9" destOrd="0" presId="urn:microsoft.com/office/officeart/2005/8/layout/default"/>
    <dgm:cxn modelId="{4F3F3758-946A-4062-AB3F-2DC73AC33D6D}" type="presParOf" srcId="{59BF805A-72FF-4EF4-96C7-2A9A8FFA1D21}" destId="{DD92F004-F397-47E4-B2E7-D7BF2A5660E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584A65-4CCD-49B1-83B3-C43BF31CD458}" type="doc">
      <dgm:prSet loTypeId="urn:microsoft.com/office/officeart/2005/8/layout/vProcess5" loCatId="process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09BB3F0C-B282-4BBF-8D81-F3FC09DC7CDE}">
      <dgm:prSet/>
      <dgm:spPr/>
      <dgm:t>
        <a:bodyPr/>
        <a:lstStyle/>
        <a:p>
          <a:r>
            <a:rPr lang="en-US" b="1"/>
            <a:t>Perception is Reality:</a:t>
          </a:r>
          <a:r>
            <a:rPr lang="en-US"/>
            <a:t> In aspirational categories, brand perception is more important than product innovation or price.</a:t>
          </a:r>
        </a:p>
      </dgm:t>
    </dgm:pt>
    <dgm:pt modelId="{9445B96C-DFD3-49DD-AC17-42DA5BD1AD16}" type="parTrans" cxnId="{9C81040B-B9B1-4D22-B745-520AD69B99DD}">
      <dgm:prSet/>
      <dgm:spPr/>
      <dgm:t>
        <a:bodyPr/>
        <a:lstStyle/>
        <a:p>
          <a:endParaRPr lang="en-US"/>
        </a:p>
      </dgm:t>
    </dgm:pt>
    <dgm:pt modelId="{F00D6D6A-ADCE-435F-BE33-5F28E225916A}" type="sibTrans" cxnId="{9C81040B-B9B1-4D22-B745-520AD69B99DD}">
      <dgm:prSet/>
      <dgm:spPr/>
      <dgm:t>
        <a:bodyPr/>
        <a:lstStyle/>
        <a:p>
          <a:endParaRPr lang="en-US"/>
        </a:p>
      </dgm:t>
    </dgm:pt>
    <dgm:pt modelId="{4681D66A-6BC3-4322-B8E1-018A938D75C9}">
      <dgm:prSet/>
      <dgm:spPr/>
      <dgm:t>
        <a:bodyPr/>
        <a:lstStyle/>
        <a:p>
          <a:r>
            <a:rPr lang="en-US" b="1"/>
            <a:t>Understand Your Customer's Heart:</a:t>
          </a:r>
          <a:r>
            <a:rPr lang="en-US"/>
            <a:t> You must understand the deep emotional and social drivers behind a purchase, not just the functional needs.</a:t>
          </a:r>
        </a:p>
      </dgm:t>
    </dgm:pt>
    <dgm:pt modelId="{58573F10-CF58-4585-A952-C2E6BED45D02}" type="parTrans" cxnId="{21644F72-EDDE-4659-A21E-B84C6A75CE23}">
      <dgm:prSet/>
      <dgm:spPr/>
      <dgm:t>
        <a:bodyPr/>
        <a:lstStyle/>
        <a:p>
          <a:endParaRPr lang="en-US"/>
        </a:p>
      </dgm:t>
    </dgm:pt>
    <dgm:pt modelId="{2975648B-1813-447B-BCCB-AA20EDA81CCD}" type="sibTrans" cxnId="{21644F72-EDDE-4659-A21E-B84C6A75CE23}">
      <dgm:prSet/>
      <dgm:spPr/>
      <dgm:t>
        <a:bodyPr/>
        <a:lstStyle/>
        <a:p>
          <a:endParaRPr lang="en-US"/>
        </a:p>
      </dgm:t>
    </dgm:pt>
    <dgm:pt modelId="{58904953-99D0-4CC7-8F43-BED2F5CE4A12}">
      <dgm:prSet/>
      <dgm:spPr/>
      <dgm:t>
        <a:bodyPr/>
        <a:lstStyle/>
        <a:p>
          <a:r>
            <a:rPr lang="en-US" b="1"/>
            <a:t>Integrated Marketing is Non-Negotiable:</a:t>
          </a:r>
          <a:r>
            <a:rPr lang="en-US"/>
            <a:t> Every message—from price to promotion—must tell a single, consistent, and </a:t>
          </a:r>
          <a:r>
            <a:rPr lang="en-US" i="1"/>
            <a:t>desirable</a:t>
          </a:r>
          <a:r>
            <a:rPr lang="en-US"/>
            <a:t> story.</a:t>
          </a:r>
        </a:p>
      </dgm:t>
    </dgm:pt>
    <dgm:pt modelId="{0C78ABF8-B0CA-4359-A0F6-9C2EF982B269}" type="parTrans" cxnId="{2C3D6631-ECFC-4176-80BB-7F8CB4F2E0AC}">
      <dgm:prSet/>
      <dgm:spPr/>
      <dgm:t>
        <a:bodyPr/>
        <a:lstStyle/>
        <a:p>
          <a:endParaRPr lang="en-US"/>
        </a:p>
      </dgm:t>
    </dgm:pt>
    <dgm:pt modelId="{7AEF179B-BF30-476D-8202-FE5BE6A65AAA}" type="sibTrans" cxnId="{2C3D6631-ECFC-4176-80BB-7F8CB4F2E0AC}">
      <dgm:prSet/>
      <dgm:spPr/>
      <dgm:t>
        <a:bodyPr/>
        <a:lstStyle/>
        <a:p>
          <a:endParaRPr lang="en-US"/>
        </a:p>
      </dgm:t>
    </dgm:pt>
    <dgm:pt modelId="{C57386A2-5646-4500-B722-AA707CC25E3E}">
      <dgm:prSet/>
      <dgm:spPr/>
      <dgm:t>
        <a:bodyPr/>
        <a:lstStyle/>
        <a:p>
          <a:r>
            <a:rPr lang="en-US" b="1"/>
            <a:t>A Vision Needs Flawless Execution:</a:t>
          </a:r>
          <a:r>
            <a:rPr lang="en-US"/>
            <a:t> The Tata Nano was a visionary product with a noble goal, but it was ultimately let down by a fundamental failure in marketing strategy and execution.</a:t>
          </a:r>
        </a:p>
      </dgm:t>
    </dgm:pt>
    <dgm:pt modelId="{0A436330-A94C-4DA2-94F9-FA8F49A0D176}" type="parTrans" cxnId="{872E8FEB-A1E2-43DA-97E0-89B4F7E4644A}">
      <dgm:prSet/>
      <dgm:spPr/>
      <dgm:t>
        <a:bodyPr/>
        <a:lstStyle/>
        <a:p>
          <a:endParaRPr lang="en-US"/>
        </a:p>
      </dgm:t>
    </dgm:pt>
    <dgm:pt modelId="{718F2B7C-9709-470E-B87F-10E449FE7908}" type="sibTrans" cxnId="{872E8FEB-A1E2-43DA-97E0-89B4F7E4644A}">
      <dgm:prSet/>
      <dgm:spPr/>
      <dgm:t>
        <a:bodyPr/>
        <a:lstStyle/>
        <a:p>
          <a:endParaRPr lang="en-US"/>
        </a:p>
      </dgm:t>
    </dgm:pt>
    <dgm:pt modelId="{9D97B7C9-1D59-4824-8D8A-4388A12BA6DE}" type="pres">
      <dgm:prSet presAssocID="{5F584A65-4CCD-49B1-83B3-C43BF31CD458}" presName="outerComposite" presStyleCnt="0">
        <dgm:presLayoutVars>
          <dgm:chMax val="5"/>
          <dgm:dir/>
          <dgm:resizeHandles val="exact"/>
        </dgm:presLayoutVars>
      </dgm:prSet>
      <dgm:spPr/>
    </dgm:pt>
    <dgm:pt modelId="{CE4997E4-00BF-47F6-B787-D5FBB8D55EF6}" type="pres">
      <dgm:prSet presAssocID="{5F584A65-4CCD-49B1-83B3-C43BF31CD458}" presName="dummyMaxCanvas" presStyleCnt="0">
        <dgm:presLayoutVars/>
      </dgm:prSet>
      <dgm:spPr/>
    </dgm:pt>
    <dgm:pt modelId="{B8F9D377-CEE1-422B-A05C-43E73709D350}" type="pres">
      <dgm:prSet presAssocID="{5F584A65-4CCD-49B1-83B3-C43BF31CD458}" presName="FourNodes_1" presStyleLbl="node1" presStyleIdx="0" presStyleCnt="4">
        <dgm:presLayoutVars>
          <dgm:bulletEnabled val="1"/>
        </dgm:presLayoutVars>
      </dgm:prSet>
      <dgm:spPr/>
    </dgm:pt>
    <dgm:pt modelId="{1B3C68A4-8E8D-4ADD-A451-9C46E986647E}" type="pres">
      <dgm:prSet presAssocID="{5F584A65-4CCD-49B1-83B3-C43BF31CD458}" presName="FourNodes_2" presStyleLbl="node1" presStyleIdx="1" presStyleCnt="4">
        <dgm:presLayoutVars>
          <dgm:bulletEnabled val="1"/>
        </dgm:presLayoutVars>
      </dgm:prSet>
      <dgm:spPr/>
    </dgm:pt>
    <dgm:pt modelId="{722A2FC9-A8E5-4BD3-AA14-2AED4E063EEC}" type="pres">
      <dgm:prSet presAssocID="{5F584A65-4CCD-49B1-83B3-C43BF31CD458}" presName="FourNodes_3" presStyleLbl="node1" presStyleIdx="2" presStyleCnt="4">
        <dgm:presLayoutVars>
          <dgm:bulletEnabled val="1"/>
        </dgm:presLayoutVars>
      </dgm:prSet>
      <dgm:spPr/>
    </dgm:pt>
    <dgm:pt modelId="{0B73CDA8-0885-4915-8B93-EA2EE86C7026}" type="pres">
      <dgm:prSet presAssocID="{5F584A65-4CCD-49B1-83B3-C43BF31CD458}" presName="FourNodes_4" presStyleLbl="node1" presStyleIdx="3" presStyleCnt="4">
        <dgm:presLayoutVars>
          <dgm:bulletEnabled val="1"/>
        </dgm:presLayoutVars>
      </dgm:prSet>
      <dgm:spPr/>
    </dgm:pt>
    <dgm:pt modelId="{A87144FB-549C-45AD-B5F1-5345FE60FF90}" type="pres">
      <dgm:prSet presAssocID="{5F584A65-4CCD-49B1-83B3-C43BF31CD458}" presName="FourConn_1-2" presStyleLbl="fgAccFollowNode1" presStyleIdx="0" presStyleCnt="3">
        <dgm:presLayoutVars>
          <dgm:bulletEnabled val="1"/>
        </dgm:presLayoutVars>
      </dgm:prSet>
      <dgm:spPr/>
    </dgm:pt>
    <dgm:pt modelId="{E6BB073F-BB01-4F30-82AD-5A417B53AC3C}" type="pres">
      <dgm:prSet presAssocID="{5F584A65-4CCD-49B1-83B3-C43BF31CD458}" presName="FourConn_2-3" presStyleLbl="fgAccFollowNode1" presStyleIdx="1" presStyleCnt="3">
        <dgm:presLayoutVars>
          <dgm:bulletEnabled val="1"/>
        </dgm:presLayoutVars>
      </dgm:prSet>
      <dgm:spPr/>
    </dgm:pt>
    <dgm:pt modelId="{D7D81362-CDBA-4BA9-BA4C-129E5794BF60}" type="pres">
      <dgm:prSet presAssocID="{5F584A65-4CCD-49B1-83B3-C43BF31CD458}" presName="FourConn_3-4" presStyleLbl="fgAccFollowNode1" presStyleIdx="2" presStyleCnt="3">
        <dgm:presLayoutVars>
          <dgm:bulletEnabled val="1"/>
        </dgm:presLayoutVars>
      </dgm:prSet>
      <dgm:spPr/>
    </dgm:pt>
    <dgm:pt modelId="{11E982E4-091B-4ECE-86C9-AB016C0253D7}" type="pres">
      <dgm:prSet presAssocID="{5F584A65-4CCD-49B1-83B3-C43BF31CD458}" presName="FourNodes_1_text" presStyleLbl="node1" presStyleIdx="3" presStyleCnt="4">
        <dgm:presLayoutVars>
          <dgm:bulletEnabled val="1"/>
        </dgm:presLayoutVars>
      </dgm:prSet>
      <dgm:spPr/>
    </dgm:pt>
    <dgm:pt modelId="{225734A0-F4EB-4561-B2A3-2025F6B656AF}" type="pres">
      <dgm:prSet presAssocID="{5F584A65-4CCD-49B1-83B3-C43BF31CD458}" presName="FourNodes_2_text" presStyleLbl="node1" presStyleIdx="3" presStyleCnt="4">
        <dgm:presLayoutVars>
          <dgm:bulletEnabled val="1"/>
        </dgm:presLayoutVars>
      </dgm:prSet>
      <dgm:spPr/>
    </dgm:pt>
    <dgm:pt modelId="{6F1E3D4F-AD89-4ABE-8ECC-57E6D48A0397}" type="pres">
      <dgm:prSet presAssocID="{5F584A65-4CCD-49B1-83B3-C43BF31CD458}" presName="FourNodes_3_text" presStyleLbl="node1" presStyleIdx="3" presStyleCnt="4">
        <dgm:presLayoutVars>
          <dgm:bulletEnabled val="1"/>
        </dgm:presLayoutVars>
      </dgm:prSet>
      <dgm:spPr/>
    </dgm:pt>
    <dgm:pt modelId="{6FB49F4C-9767-4382-823C-C7C8424B690A}" type="pres">
      <dgm:prSet presAssocID="{5F584A65-4CCD-49B1-83B3-C43BF31CD45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9C81040B-B9B1-4D22-B745-520AD69B99DD}" srcId="{5F584A65-4CCD-49B1-83B3-C43BF31CD458}" destId="{09BB3F0C-B282-4BBF-8D81-F3FC09DC7CDE}" srcOrd="0" destOrd="0" parTransId="{9445B96C-DFD3-49DD-AC17-42DA5BD1AD16}" sibTransId="{F00D6D6A-ADCE-435F-BE33-5F28E225916A}"/>
    <dgm:cxn modelId="{2C3D6631-ECFC-4176-80BB-7F8CB4F2E0AC}" srcId="{5F584A65-4CCD-49B1-83B3-C43BF31CD458}" destId="{58904953-99D0-4CC7-8F43-BED2F5CE4A12}" srcOrd="2" destOrd="0" parTransId="{0C78ABF8-B0CA-4359-A0F6-9C2EF982B269}" sibTransId="{7AEF179B-BF30-476D-8202-FE5BE6A65AAA}"/>
    <dgm:cxn modelId="{E2F9D938-A608-41E0-9272-14650FABDB6A}" type="presOf" srcId="{09BB3F0C-B282-4BBF-8D81-F3FC09DC7CDE}" destId="{B8F9D377-CEE1-422B-A05C-43E73709D350}" srcOrd="0" destOrd="0" presId="urn:microsoft.com/office/officeart/2005/8/layout/vProcess5"/>
    <dgm:cxn modelId="{0A36AA42-CCF5-447C-9CDE-1CCE0B11F2FE}" type="presOf" srcId="{4681D66A-6BC3-4322-B8E1-018A938D75C9}" destId="{1B3C68A4-8E8D-4ADD-A451-9C46E986647E}" srcOrd="0" destOrd="0" presId="urn:microsoft.com/office/officeart/2005/8/layout/vProcess5"/>
    <dgm:cxn modelId="{03648668-759A-44CC-8D6B-2F387D8C766D}" type="presOf" srcId="{5F584A65-4CCD-49B1-83B3-C43BF31CD458}" destId="{9D97B7C9-1D59-4824-8D8A-4388A12BA6DE}" srcOrd="0" destOrd="0" presId="urn:microsoft.com/office/officeart/2005/8/layout/vProcess5"/>
    <dgm:cxn modelId="{B2D8F650-38F3-4B26-BC3B-5BBFB2BAFA0E}" type="presOf" srcId="{09BB3F0C-B282-4BBF-8D81-F3FC09DC7CDE}" destId="{11E982E4-091B-4ECE-86C9-AB016C0253D7}" srcOrd="1" destOrd="0" presId="urn:microsoft.com/office/officeart/2005/8/layout/vProcess5"/>
    <dgm:cxn modelId="{21644F72-EDDE-4659-A21E-B84C6A75CE23}" srcId="{5F584A65-4CCD-49B1-83B3-C43BF31CD458}" destId="{4681D66A-6BC3-4322-B8E1-018A938D75C9}" srcOrd="1" destOrd="0" parTransId="{58573F10-CF58-4585-A952-C2E6BED45D02}" sibTransId="{2975648B-1813-447B-BCCB-AA20EDA81CCD}"/>
    <dgm:cxn modelId="{7AF58473-4661-4478-B9EE-BCD63073FC31}" type="presOf" srcId="{C57386A2-5646-4500-B722-AA707CC25E3E}" destId="{6FB49F4C-9767-4382-823C-C7C8424B690A}" srcOrd="1" destOrd="0" presId="urn:microsoft.com/office/officeart/2005/8/layout/vProcess5"/>
    <dgm:cxn modelId="{F481647A-720B-45F7-AA05-0B891687F3EF}" type="presOf" srcId="{C57386A2-5646-4500-B722-AA707CC25E3E}" destId="{0B73CDA8-0885-4915-8B93-EA2EE86C7026}" srcOrd="0" destOrd="0" presId="urn:microsoft.com/office/officeart/2005/8/layout/vProcess5"/>
    <dgm:cxn modelId="{32942E84-7F7A-446A-8D8D-341AED685714}" type="presOf" srcId="{7AEF179B-BF30-476D-8202-FE5BE6A65AAA}" destId="{D7D81362-CDBA-4BA9-BA4C-129E5794BF60}" srcOrd="0" destOrd="0" presId="urn:microsoft.com/office/officeart/2005/8/layout/vProcess5"/>
    <dgm:cxn modelId="{34FCFC8C-E0CC-4CF5-9A16-44344BE202C6}" type="presOf" srcId="{58904953-99D0-4CC7-8F43-BED2F5CE4A12}" destId="{6F1E3D4F-AD89-4ABE-8ECC-57E6D48A0397}" srcOrd="1" destOrd="0" presId="urn:microsoft.com/office/officeart/2005/8/layout/vProcess5"/>
    <dgm:cxn modelId="{4660969D-6FD0-410E-9BFA-CA854FB02BA2}" type="presOf" srcId="{58904953-99D0-4CC7-8F43-BED2F5CE4A12}" destId="{722A2FC9-A8E5-4BD3-AA14-2AED4E063EEC}" srcOrd="0" destOrd="0" presId="urn:microsoft.com/office/officeart/2005/8/layout/vProcess5"/>
    <dgm:cxn modelId="{5829C4C8-2BAF-4E02-AC5A-4EE2A63A23FE}" type="presOf" srcId="{2975648B-1813-447B-BCCB-AA20EDA81CCD}" destId="{E6BB073F-BB01-4F30-82AD-5A417B53AC3C}" srcOrd="0" destOrd="0" presId="urn:microsoft.com/office/officeart/2005/8/layout/vProcess5"/>
    <dgm:cxn modelId="{E7A859E2-46CC-4A6F-B4E7-4F2A7E1EB535}" type="presOf" srcId="{4681D66A-6BC3-4322-B8E1-018A938D75C9}" destId="{225734A0-F4EB-4561-B2A3-2025F6B656AF}" srcOrd="1" destOrd="0" presId="urn:microsoft.com/office/officeart/2005/8/layout/vProcess5"/>
    <dgm:cxn modelId="{872E8FEB-A1E2-43DA-97E0-89B4F7E4644A}" srcId="{5F584A65-4CCD-49B1-83B3-C43BF31CD458}" destId="{C57386A2-5646-4500-B722-AA707CC25E3E}" srcOrd="3" destOrd="0" parTransId="{0A436330-A94C-4DA2-94F9-FA8F49A0D176}" sibTransId="{718F2B7C-9709-470E-B87F-10E449FE7908}"/>
    <dgm:cxn modelId="{4339D9F8-3520-40AC-A849-B8D4634D71B1}" type="presOf" srcId="{F00D6D6A-ADCE-435F-BE33-5F28E225916A}" destId="{A87144FB-549C-45AD-B5F1-5345FE60FF90}" srcOrd="0" destOrd="0" presId="urn:microsoft.com/office/officeart/2005/8/layout/vProcess5"/>
    <dgm:cxn modelId="{32F7EA9B-87A7-4C01-B6B2-3CD3918B875C}" type="presParOf" srcId="{9D97B7C9-1D59-4824-8D8A-4388A12BA6DE}" destId="{CE4997E4-00BF-47F6-B787-D5FBB8D55EF6}" srcOrd="0" destOrd="0" presId="urn:microsoft.com/office/officeart/2005/8/layout/vProcess5"/>
    <dgm:cxn modelId="{EF083734-AC44-4DF7-AE36-51FD81D70C0D}" type="presParOf" srcId="{9D97B7C9-1D59-4824-8D8A-4388A12BA6DE}" destId="{B8F9D377-CEE1-422B-A05C-43E73709D350}" srcOrd="1" destOrd="0" presId="urn:microsoft.com/office/officeart/2005/8/layout/vProcess5"/>
    <dgm:cxn modelId="{6A18B642-F941-4908-82DE-B22809826CBF}" type="presParOf" srcId="{9D97B7C9-1D59-4824-8D8A-4388A12BA6DE}" destId="{1B3C68A4-8E8D-4ADD-A451-9C46E986647E}" srcOrd="2" destOrd="0" presId="urn:microsoft.com/office/officeart/2005/8/layout/vProcess5"/>
    <dgm:cxn modelId="{070BBEBA-463D-4D34-B51E-571F2927BE0D}" type="presParOf" srcId="{9D97B7C9-1D59-4824-8D8A-4388A12BA6DE}" destId="{722A2FC9-A8E5-4BD3-AA14-2AED4E063EEC}" srcOrd="3" destOrd="0" presId="urn:microsoft.com/office/officeart/2005/8/layout/vProcess5"/>
    <dgm:cxn modelId="{9519C949-0854-499C-93EC-442AE2AC4914}" type="presParOf" srcId="{9D97B7C9-1D59-4824-8D8A-4388A12BA6DE}" destId="{0B73CDA8-0885-4915-8B93-EA2EE86C7026}" srcOrd="4" destOrd="0" presId="urn:microsoft.com/office/officeart/2005/8/layout/vProcess5"/>
    <dgm:cxn modelId="{6F28653C-ABDD-4E09-92E7-8B9F4B792879}" type="presParOf" srcId="{9D97B7C9-1D59-4824-8D8A-4388A12BA6DE}" destId="{A87144FB-549C-45AD-B5F1-5345FE60FF90}" srcOrd="5" destOrd="0" presId="urn:microsoft.com/office/officeart/2005/8/layout/vProcess5"/>
    <dgm:cxn modelId="{C202A664-A715-4FD4-868C-4370E471DB85}" type="presParOf" srcId="{9D97B7C9-1D59-4824-8D8A-4388A12BA6DE}" destId="{E6BB073F-BB01-4F30-82AD-5A417B53AC3C}" srcOrd="6" destOrd="0" presId="urn:microsoft.com/office/officeart/2005/8/layout/vProcess5"/>
    <dgm:cxn modelId="{947847CA-F53E-40AD-9F4C-89925B909C24}" type="presParOf" srcId="{9D97B7C9-1D59-4824-8D8A-4388A12BA6DE}" destId="{D7D81362-CDBA-4BA9-BA4C-129E5794BF60}" srcOrd="7" destOrd="0" presId="urn:microsoft.com/office/officeart/2005/8/layout/vProcess5"/>
    <dgm:cxn modelId="{A91F0303-54B8-42CB-AA94-3238BBA5C8D5}" type="presParOf" srcId="{9D97B7C9-1D59-4824-8D8A-4388A12BA6DE}" destId="{11E982E4-091B-4ECE-86C9-AB016C0253D7}" srcOrd="8" destOrd="0" presId="urn:microsoft.com/office/officeart/2005/8/layout/vProcess5"/>
    <dgm:cxn modelId="{6A7457E9-9447-4DD0-A649-FC1E13676BCD}" type="presParOf" srcId="{9D97B7C9-1D59-4824-8D8A-4388A12BA6DE}" destId="{225734A0-F4EB-4561-B2A3-2025F6B656AF}" srcOrd="9" destOrd="0" presId="urn:microsoft.com/office/officeart/2005/8/layout/vProcess5"/>
    <dgm:cxn modelId="{B95170D4-5C1D-4E87-8178-97F1BA593D02}" type="presParOf" srcId="{9D97B7C9-1D59-4824-8D8A-4388A12BA6DE}" destId="{6F1E3D4F-AD89-4ABE-8ECC-57E6D48A0397}" srcOrd="10" destOrd="0" presId="urn:microsoft.com/office/officeart/2005/8/layout/vProcess5"/>
    <dgm:cxn modelId="{23DCEBA9-9624-4F0A-8DE3-9B86AC228072}" type="presParOf" srcId="{9D97B7C9-1D59-4824-8D8A-4388A12BA6DE}" destId="{6FB49F4C-9767-4382-823C-C7C8424B690A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526FC1-3E41-490C-86F2-CC3788AB13BD}">
      <dsp:nvSpPr>
        <dsp:cNvPr id="0" name=""/>
        <dsp:cNvSpPr/>
      </dsp:nvSpPr>
      <dsp:spPr>
        <a:xfrm>
          <a:off x="0" y="1407"/>
          <a:ext cx="10515600" cy="5997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77EED8-959E-4E74-A385-A621A1FFFCE9}">
      <dsp:nvSpPr>
        <dsp:cNvPr id="0" name=""/>
        <dsp:cNvSpPr/>
      </dsp:nvSpPr>
      <dsp:spPr>
        <a:xfrm>
          <a:off x="181438" y="136361"/>
          <a:ext cx="329887" cy="3298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8C0789-25DF-44EB-A4FF-4EE6145E0F4D}">
      <dsp:nvSpPr>
        <dsp:cNvPr id="0" name=""/>
        <dsp:cNvSpPr/>
      </dsp:nvSpPr>
      <dsp:spPr>
        <a:xfrm>
          <a:off x="692764" y="1407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Product:</a:t>
          </a:r>
          <a:endParaRPr lang="en-US" sz="1600" kern="1200"/>
        </a:p>
      </dsp:txBody>
      <dsp:txXfrm>
        <a:off x="692764" y="1407"/>
        <a:ext cx="9822835" cy="599796"/>
      </dsp:txXfrm>
    </dsp:sp>
    <dsp:sp modelId="{AEA4B127-7B47-4809-ABD0-B2EF24F3252E}">
      <dsp:nvSpPr>
        <dsp:cNvPr id="0" name=""/>
        <dsp:cNvSpPr/>
      </dsp:nvSpPr>
      <dsp:spPr>
        <a:xfrm>
          <a:off x="0" y="751152"/>
          <a:ext cx="10515600" cy="5997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83E71B-E579-4C03-A695-ABEA3171A992}">
      <dsp:nvSpPr>
        <dsp:cNvPr id="0" name=""/>
        <dsp:cNvSpPr/>
      </dsp:nvSpPr>
      <dsp:spPr>
        <a:xfrm>
          <a:off x="181438" y="886107"/>
          <a:ext cx="329887" cy="3298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E762CF-9E8E-4D4E-9618-99003262F15B}">
      <dsp:nvSpPr>
        <dsp:cNvPr id="0" name=""/>
        <dsp:cNvSpPr/>
      </dsp:nvSpPr>
      <dsp:spPr>
        <a:xfrm>
          <a:off x="692764" y="751152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Perceived Low Quality:</a:t>
          </a:r>
          <a:r>
            <a:rPr lang="en-US" sz="1600" kern="1200"/>
            <a:t> Cost-cutting measures (noisy engine, basic features) reinforced the "cheap" label.</a:t>
          </a:r>
        </a:p>
      </dsp:txBody>
      <dsp:txXfrm>
        <a:off x="692764" y="751152"/>
        <a:ext cx="9822835" cy="599796"/>
      </dsp:txXfrm>
    </dsp:sp>
    <dsp:sp modelId="{3C58C0F1-9F31-4D1D-AAF3-3B626DBE1185}">
      <dsp:nvSpPr>
        <dsp:cNvPr id="0" name=""/>
        <dsp:cNvSpPr/>
      </dsp:nvSpPr>
      <dsp:spPr>
        <a:xfrm>
          <a:off x="0" y="1500898"/>
          <a:ext cx="10515600" cy="5997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F84570-67E9-48F4-9502-2805DE53CED6}">
      <dsp:nvSpPr>
        <dsp:cNvPr id="0" name=""/>
        <dsp:cNvSpPr/>
      </dsp:nvSpPr>
      <dsp:spPr>
        <a:xfrm>
          <a:off x="181438" y="1635852"/>
          <a:ext cx="329887" cy="3298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7340A8-C9FE-4F99-B041-8AE71731EB66}">
      <dsp:nvSpPr>
        <dsp:cNvPr id="0" name=""/>
        <dsp:cNvSpPr/>
      </dsp:nvSpPr>
      <dsp:spPr>
        <a:xfrm>
          <a:off x="692764" y="150089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Safety Paradox:</a:t>
          </a:r>
          <a:r>
            <a:rPr lang="en-US" sz="1600" kern="1200"/>
            <a:t> Highly publicized fires created a narrative of being </a:t>
          </a:r>
          <a:r>
            <a:rPr lang="en-US" sz="1600" b="1" kern="1200"/>
            <a:t>unsafe</a:t>
          </a:r>
          <a:r>
            <a:rPr lang="en-US" sz="1600" kern="1200"/>
            <a:t>, directly contradicting its core purpose, even though it passed safety tests.</a:t>
          </a:r>
        </a:p>
      </dsp:txBody>
      <dsp:txXfrm>
        <a:off x="692764" y="1500898"/>
        <a:ext cx="9822835" cy="599796"/>
      </dsp:txXfrm>
    </dsp:sp>
    <dsp:sp modelId="{1EA5B914-1D51-4854-ACFB-A9BEA5622075}">
      <dsp:nvSpPr>
        <dsp:cNvPr id="0" name=""/>
        <dsp:cNvSpPr/>
      </dsp:nvSpPr>
      <dsp:spPr>
        <a:xfrm>
          <a:off x="0" y="2250643"/>
          <a:ext cx="10515600" cy="5997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1660B9-687D-49E3-8F54-B732C6A66730}">
      <dsp:nvSpPr>
        <dsp:cNvPr id="0" name=""/>
        <dsp:cNvSpPr/>
      </dsp:nvSpPr>
      <dsp:spPr>
        <a:xfrm>
          <a:off x="181438" y="2385597"/>
          <a:ext cx="329887" cy="3298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3DD58-7789-4199-9B72-AC6427A1EA8B}">
      <dsp:nvSpPr>
        <dsp:cNvPr id="0" name=""/>
        <dsp:cNvSpPr/>
      </dsp:nvSpPr>
      <dsp:spPr>
        <a:xfrm>
          <a:off x="692764" y="2250643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Price:</a:t>
          </a:r>
          <a:endParaRPr lang="en-US" sz="1600" kern="1200"/>
        </a:p>
      </dsp:txBody>
      <dsp:txXfrm>
        <a:off x="692764" y="2250643"/>
        <a:ext cx="9822835" cy="599796"/>
      </dsp:txXfrm>
    </dsp:sp>
    <dsp:sp modelId="{E12C77EB-D9D1-450D-982D-B5F8A31D8BF1}">
      <dsp:nvSpPr>
        <dsp:cNvPr id="0" name=""/>
        <dsp:cNvSpPr/>
      </dsp:nvSpPr>
      <dsp:spPr>
        <a:xfrm>
          <a:off x="0" y="3000388"/>
          <a:ext cx="10515600" cy="5997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A680D6-5573-4A6E-AF59-15EC1499AB38}">
      <dsp:nvSpPr>
        <dsp:cNvPr id="0" name=""/>
        <dsp:cNvSpPr/>
      </dsp:nvSpPr>
      <dsp:spPr>
        <a:xfrm>
          <a:off x="181438" y="3135342"/>
          <a:ext cx="329887" cy="32988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98E8AE-64B4-46DA-9F92-2E9382496D5B}">
      <dsp:nvSpPr>
        <dsp:cNvPr id="0" name=""/>
        <dsp:cNvSpPr/>
      </dsp:nvSpPr>
      <dsp:spPr>
        <a:xfrm>
          <a:off x="692764" y="300038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Negative Stigma:</a:t>
          </a:r>
          <a:r>
            <a:rPr lang="en-US" sz="1600" kern="1200"/>
            <a:t> The Rs. 1 Lakh price was a brand-defining albatross.</a:t>
          </a:r>
        </a:p>
      </dsp:txBody>
      <dsp:txXfrm>
        <a:off x="692764" y="3000388"/>
        <a:ext cx="9822835" cy="599796"/>
      </dsp:txXfrm>
    </dsp:sp>
    <dsp:sp modelId="{2B4A0D4A-9370-483A-A967-9DB42A3B5E1D}">
      <dsp:nvSpPr>
        <dsp:cNvPr id="0" name=""/>
        <dsp:cNvSpPr/>
      </dsp:nvSpPr>
      <dsp:spPr>
        <a:xfrm>
          <a:off x="0" y="3750134"/>
          <a:ext cx="10515600" cy="59979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C98044-E7C6-4DD2-AD94-41C6DA81353B}">
      <dsp:nvSpPr>
        <dsp:cNvPr id="0" name=""/>
        <dsp:cNvSpPr/>
      </dsp:nvSpPr>
      <dsp:spPr>
        <a:xfrm>
          <a:off x="181438" y="3885088"/>
          <a:ext cx="329887" cy="32988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C3DDF9-3F97-4AF4-86B5-44DA41340CEE}">
      <dsp:nvSpPr>
        <dsp:cNvPr id="0" name=""/>
        <dsp:cNvSpPr/>
      </dsp:nvSpPr>
      <dsp:spPr>
        <a:xfrm>
          <a:off x="692764" y="3750134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Broken Promise:</a:t>
          </a:r>
          <a:r>
            <a:rPr lang="en-US" sz="1600" kern="1200"/>
            <a:t> The actual on-road price was much higher, creating a trust deficit with consumers.</a:t>
          </a:r>
        </a:p>
      </dsp:txBody>
      <dsp:txXfrm>
        <a:off x="692764" y="3750134"/>
        <a:ext cx="9822835" cy="5997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AD994E-D25A-46C2-8877-3BA2A034D339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Place (Distribution):</a:t>
          </a:r>
          <a:endParaRPr lang="en-US" sz="1900" kern="1200"/>
        </a:p>
      </dsp:txBody>
      <dsp:txXfrm>
        <a:off x="0" y="39687"/>
        <a:ext cx="3286125" cy="1971675"/>
      </dsp:txXfrm>
    </dsp:sp>
    <dsp:sp modelId="{BCD81878-4456-435C-80BB-AFCD8CD96F8A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Production Delays:</a:t>
          </a:r>
          <a:r>
            <a:rPr lang="en-US" sz="1900" kern="1200"/>
            <a:t> The factory relocation from Singur to Sanand killed the initial market momentum.</a:t>
          </a:r>
        </a:p>
      </dsp:txBody>
      <dsp:txXfrm>
        <a:off x="3614737" y="39687"/>
        <a:ext cx="3286125" cy="1971675"/>
      </dsp:txXfrm>
    </dsp:sp>
    <dsp:sp modelId="{BD53E433-82C7-424E-9B60-70C5C66D14F3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Mismatched Channel:</a:t>
          </a:r>
          <a:r>
            <a:rPr lang="en-US" sz="1900" kern="1200"/>
            <a:t> Urban showrooms were physically and psychologically inaccessible to the target rural and semi-urban customers.</a:t>
          </a:r>
        </a:p>
      </dsp:txBody>
      <dsp:txXfrm>
        <a:off x="7229475" y="39687"/>
        <a:ext cx="3286125" cy="1971675"/>
      </dsp:txXfrm>
    </dsp:sp>
    <dsp:sp modelId="{85F03451-5FBB-412D-91C3-1BCF16FE7001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Promotion:</a:t>
          </a:r>
          <a:endParaRPr lang="en-US" sz="1900" kern="1200"/>
        </a:p>
      </dsp:txBody>
      <dsp:txXfrm>
        <a:off x="0" y="2339975"/>
        <a:ext cx="3286125" cy="1971675"/>
      </dsp:txXfrm>
    </dsp:sp>
    <dsp:sp modelId="{744F7FC4-0F8A-4611-8790-95874A8FCE46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Reinforced "Cheap" Image:</a:t>
          </a:r>
          <a:r>
            <a:rPr lang="en-US" sz="1900" kern="1200" dirty="0"/>
            <a:t> Ads focused on function, not aspiration, often comparing the Nano to a scooter, not a "real car.“</a:t>
          </a:r>
          <a:br>
            <a:rPr lang="en-US" sz="1900" kern="1200" dirty="0"/>
          </a:br>
          <a:r>
            <a:rPr lang="en-US" sz="1900" kern="1200" dirty="0"/>
            <a:t>Tagline: “</a:t>
          </a:r>
          <a:r>
            <a:rPr lang="en-US" sz="1900" kern="1200" dirty="0" err="1"/>
            <a:t>Khushiyon</a:t>
          </a:r>
          <a:r>
            <a:rPr lang="en-US" sz="1900" kern="1200" dirty="0"/>
            <a:t> ki Chabbi” failed to resonate.</a:t>
          </a:r>
        </a:p>
      </dsp:txBody>
      <dsp:txXfrm>
        <a:off x="3614737" y="2339975"/>
        <a:ext cx="3286125" cy="1971675"/>
      </dsp:txXfrm>
    </dsp:sp>
    <dsp:sp modelId="{DD92F004-F397-47E4-B2E7-D7BF2A5660ED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Poor PR:</a:t>
          </a:r>
          <a:r>
            <a:rPr lang="en-US" sz="1900" kern="1200"/>
            <a:t> The response to the fire incidents was slow and defensive, failing to manage public fear.</a:t>
          </a:r>
        </a:p>
      </dsp:txBody>
      <dsp:txXfrm>
        <a:off x="7229475" y="2339975"/>
        <a:ext cx="3286125" cy="19716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F9D377-CEE1-422B-A05C-43E73709D350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Perception is Reality:</a:t>
          </a:r>
          <a:r>
            <a:rPr lang="en-US" sz="1800" kern="1200"/>
            <a:t> In aspirational categories, brand perception is more important than product innovation or price.</a:t>
          </a:r>
        </a:p>
      </dsp:txBody>
      <dsp:txXfrm>
        <a:off x="28038" y="28038"/>
        <a:ext cx="7298593" cy="901218"/>
      </dsp:txXfrm>
    </dsp:sp>
    <dsp:sp modelId="{1B3C68A4-8E8D-4ADD-A451-9C46E986647E}">
      <dsp:nvSpPr>
        <dsp:cNvPr id="0" name=""/>
        <dsp:cNvSpPr/>
      </dsp:nvSpPr>
      <dsp:spPr>
        <a:xfrm>
          <a:off x="704545" y="1131347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Understand Your Customer's Heart:</a:t>
          </a:r>
          <a:r>
            <a:rPr lang="en-US" sz="1800" kern="1200"/>
            <a:t> You must understand the deep emotional and social drivers behind a purchase, not just the functional needs.</a:t>
          </a:r>
        </a:p>
      </dsp:txBody>
      <dsp:txXfrm>
        <a:off x="732583" y="1159385"/>
        <a:ext cx="7029617" cy="901218"/>
      </dsp:txXfrm>
    </dsp:sp>
    <dsp:sp modelId="{722A2FC9-A8E5-4BD3-AA14-2AED4E063EEC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Integrated Marketing is Non-Negotiable:</a:t>
          </a:r>
          <a:r>
            <a:rPr lang="en-US" sz="1800" kern="1200"/>
            <a:t> Every message—from price to promotion—must tell a single, consistent, and </a:t>
          </a:r>
          <a:r>
            <a:rPr lang="en-US" sz="1800" i="1" kern="1200"/>
            <a:t>desirable</a:t>
          </a:r>
          <a:r>
            <a:rPr lang="en-US" sz="1800" kern="1200"/>
            <a:t> story.</a:t>
          </a:r>
        </a:p>
      </dsp:txBody>
      <dsp:txXfrm>
        <a:off x="1426612" y="2290733"/>
        <a:ext cx="7040133" cy="901218"/>
      </dsp:txXfrm>
    </dsp:sp>
    <dsp:sp modelId="{0B73CDA8-0885-4915-8B93-EA2EE86C7026}">
      <dsp:nvSpPr>
        <dsp:cNvPr id="0" name=""/>
        <dsp:cNvSpPr/>
      </dsp:nvSpPr>
      <dsp:spPr>
        <a:xfrm>
          <a:off x="2103119" y="3394043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A Vision Needs Flawless Execution:</a:t>
          </a:r>
          <a:r>
            <a:rPr lang="en-US" sz="1800" kern="1200"/>
            <a:t> The Tata Nano was a visionary product with a noble goal, but it was ultimately let down by a fundamental failure in marketing strategy and execution.</a:t>
          </a:r>
        </a:p>
      </dsp:txBody>
      <dsp:txXfrm>
        <a:off x="2131157" y="3422081"/>
        <a:ext cx="7029617" cy="901218"/>
      </dsp:txXfrm>
    </dsp:sp>
    <dsp:sp modelId="{A87144FB-549C-45AD-B5F1-5345FE60FF90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7930242" y="733200"/>
        <a:ext cx="342233" cy="468236"/>
      </dsp:txXfrm>
    </dsp:sp>
    <dsp:sp modelId="{E6BB073F-BB01-4F30-82AD-5A417B53AC3C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8634787" y="1864548"/>
        <a:ext cx="342233" cy="468236"/>
      </dsp:txXfrm>
    </dsp:sp>
    <dsp:sp modelId="{D7D81362-CDBA-4BA9-BA4C-129E5794BF60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9328817" y="2995896"/>
        <a:ext cx="342233" cy="468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3D6640C-F6A0-4351-856B-14836F234E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0B7B-2795-4857-B84E-9C600536AE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20AE1-5DBC-4417-A73B-5F29B67C532C}" type="datetimeFigureOut">
              <a:rPr lang="en-US" smtClean="0"/>
              <a:t>06-Aug-25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3ACD6-6E00-4BE1-A684-34A6BD202E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F20A5-CEF2-4B11-A0A4-0F4BC0BD64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22411-A9A9-4A09-A341-69C657AB42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8888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6A9CD-5E57-4C86-B862-09CA519924BA}" type="datetimeFigureOut">
              <a:rPr lang="en-US" smtClean="0"/>
              <a:t>06-Aug-25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A004F4-F240-48F9-8AE1-486585C7F0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881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170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4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D165-49B0-44FF-A267-367F5A6EE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9514"/>
            <a:ext cx="9144000" cy="2128049"/>
          </a:xfrm>
        </p:spPr>
        <p:txBody>
          <a:bodyPr anchor="b"/>
          <a:lstStyle>
            <a:lvl1pPr algn="ctr">
              <a:lnSpc>
                <a:spcPct val="12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52800-74D6-4A78-AC9B-8E737A1A3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1162"/>
            <a:ext cx="9144000" cy="882001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1" kern="1200" spc="65" dirty="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91F7B-C4AF-4FC6-A6BE-657DEF6D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08ED5-AEFE-4443-9040-726EF6690995}" type="datetime1">
              <a:rPr lang="en-US" smtClean="0"/>
              <a:t>06-Aug-25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D32F8-B0C7-4332-B0A5-BC19DD8C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30946-D0C7-4F78-94B0-427DAA6D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50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1141-A77D-4E0E-8CAF-4CD3B279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EFDE0-5A54-402A-B0C3-6BC0BB739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825AD-4585-4E37-A076-3D0070C9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2561F-7E45-400C-8758-912CDFE9410A}" type="datetime1">
              <a:rPr lang="en-US" smtClean="0"/>
              <a:t>06-Aug-25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064AD-EDC3-4B13-8CD6-49EB6009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0FD1E-16F6-49B1-A938-8CE601ED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46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A988-92AD-48D7-890A-AA0540961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999FA-A189-41DB-9CFC-D1356C534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D83DC-20E7-4B71-9794-36FC33B1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4BC7-4CDB-41D7-81AF-9CE8473FF4B8}" type="datetime1">
              <a:rPr lang="en-US" smtClean="0"/>
              <a:t>06-Aug-25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7D103-1290-4592-B37C-19C9C9DB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55B1B-4A5C-42C7-99A5-B8217736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0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87105-2538-4216-9A7E-445FA092F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smtClean="0"/>
              <a:t>06-Aug-25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03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CD8C-7FEF-4E71-8EB9-D3BA6E2E3E9E}" type="datetime1">
              <a:rPr lang="en-US" smtClean="0"/>
              <a:t>06-Aug-25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76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9EF5-3FD9-4423-A9E8-B67B4E90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D7191-31B4-440E-A4E9-F412FA55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379E-9B58-41EA-B928-5B1C8436A60E}" type="datetime1">
              <a:rPr lang="en-US" smtClean="0"/>
              <a:t>06-Aug-25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85CB6-0880-4BF0-8E98-291E70C7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A5E74-F26F-4C7A-BED1-6EE66C0B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90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5C546-684A-45B9-8890-66DC55DF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0A371-51FE-4D99-BD87-6A650FCE519D}" type="datetime1">
              <a:rPr lang="en-US" smtClean="0"/>
              <a:t>06-Aug-25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43EBDF-D696-42F7-B962-56F5FEE12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9D77E-1675-4F9D-9113-B274CB0E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460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9C90-06AB-49B5-9970-F5791DE9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B0071-932D-4CA0-92FB-A6E75AC8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8D9F5-8B70-4BDD-9CB5-BBF87CF55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9DE91-7A80-4682-9D32-2CD41DEF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F8CFF-A1C0-4B6C-AA8D-BE72CB14468D}" type="datetime1">
              <a:rPr lang="en-US" smtClean="0"/>
              <a:t>06-Aug-25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E2482-2E7D-4868-95A7-4A55B40F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E84CF-C3E5-4475-84C7-21CBAC06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62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smtClean="0"/>
              <a:t>06-Aug-25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443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EC732-0DE2-456B-92A1-84321C9B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16A5B-B156-4DC3-B18E-14F3E59A6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0252E-67CD-4B33-849F-7B1449CF2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591E0-5367-4F2F-9C30-2087D79A846D}" type="datetime1">
              <a:rPr lang="en-US" noProof="0" smtClean="0"/>
              <a:t>06-Aug-25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20AD2-E3F8-48CB-8B72-B0945DF53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5F3BCF-F6FD-4DFF-B0B4-9892C9389344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DEFFD-817B-43EC-86F0-34DEA2BA5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1">
                <a:solidFill>
                  <a:schemeClr val="tx2">
                    <a:alpha val="70000"/>
                  </a:schemeClr>
                </a:solidFill>
              </a:defRPr>
            </a:lvl1pPr>
          </a:lstStyle>
          <a:p>
            <a:fld id="{82EE24B5-652C-4DB5-B7C3-B5BBEC1280B1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410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 descr="Blue rectangle">
            <a:extLst>
              <a:ext uri="{FF2B5EF4-FFF2-40B4-BE49-F238E27FC236}">
                <a16:creationId xmlns:a16="http://schemas.microsoft.com/office/drawing/2014/main" id="{482BBC39-5D4C-4E24-ADB1-5FFFBA7198D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blipFill>
            <a:blip r:embed="rId3"/>
            <a:srcRect/>
            <a:stretch>
              <a:fillRect l="-12" r="-12"/>
            </a:stretch>
          </a:blip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" name="object 3" descr="People with documents">
            <a:extLst>
              <a:ext uri="{FF2B5EF4-FFF2-40B4-BE49-F238E27FC236}">
                <a16:creationId xmlns:a16="http://schemas.microsoft.com/office/drawing/2014/main" id="{0CA2E80D-F3EC-4A5F-8E65-56FEA206EE0F}"/>
              </a:ext>
            </a:extLst>
          </p:cNvPr>
          <p:cNvSpPr/>
          <p:nvPr/>
        </p:nvSpPr>
        <p:spPr>
          <a:xfrm>
            <a:off x="127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6C91D-4B22-49F1-9A0B-ABEB9E1F5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08518"/>
            <a:ext cx="9144000" cy="2128049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The Tata Nano: A Marketing Failure</a:t>
            </a:r>
            <a:br>
              <a:rPr lang="en-US" sz="5400" dirty="0"/>
            </a:br>
            <a:r>
              <a:rPr lang="en-US" sz="5400" dirty="0"/>
              <a:t>How the "People's Car" Missed Its Mark</a:t>
            </a:r>
          </a:p>
        </p:txBody>
      </p:sp>
      <p:sp>
        <p:nvSpPr>
          <p:cNvPr id="6" name="object 7" descr="Beige rectangle">
            <a:extLst>
              <a:ext uri="{FF2B5EF4-FFF2-40B4-BE49-F238E27FC236}">
                <a16:creationId xmlns:a16="http://schemas.microsoft.com/office/drawing/2014/main" id="{B36975AA-C62E-46BE-9382-E2CF56FDF817}"/>
              </a:ext>
            </a:extLst>
          </p:cNvPr>
          <p:cNvSpPr/>
          <p:nvPr/>
        </p:nvSpPr>
        <p:spPr>
          <a:xfrm>
            <a:off x="3106476" y="2335134"/>
            <a:ext cx="5976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1A0505-DBEA-1959-811A-C2B31370CCF9}"/>
              </a:ext>
            </a:extLst>
          </p:cNvPr>
          <p:cNvSpPr txBox="1"/>
          <p:nvPr/>
        </p:nvSpPr>
        <p:spPr>
          <a:xfrm>
            <a:off x="570271" y="5406840"/>
            <a:ext cx="58600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By: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Aman Kumar Sinha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244024004</a:t>
            </a:r>
          </a:p>
        </p:txBody>
      </p:sp>
    </p:spTree>
    <p:extLst>
      <p:ext uri="{BB962C8B-B14F-4D97-AF65-F5344CB8AC3E}">
        <p14:creationId xmlns:p14="http://schemas.microsoft.com/office/powerpoint/2010/main" val="109355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 descr="Beige rectangle">
            <a:extLst>
              <a:ext uri="{FF2B5EF4-FFF2-40B4-BE49-F238E27FC236}">
                <a16:creationId xmlns:a16="http://schemas.microsoft.com/office/drawing/2014/main" id="{DCF29767-6635-4A46-AB77-672CC90C6FBE}"/>
              </a:ext>
            </a:extLst>
          </p:cNvPr>
          <p:cNvSpPr/>
          <p:nvPr/>
        </p:nvSpPr>
        <p:spPr>
          <a:xfrm>
            <a:off x="8181340" y="1359001"/>
            <a:ext cx="4010660" cy="4194074"/>
          </a:xfrm>
          <a:custGeom>
            <a:avLst/>
            <a:gdLst/>
            <a:ahLst/>
            <a:cxnLst/>
            <a:rect l="l" t="t" r="r" b="b"/>
            <a:pathLst>
              <a:path w="4010659" h="333375">
                <a:moveTo>
                  <a:pt x="0" y="333006"/>
                </a:moveTo>
                <a:lnTo>
                  <a:pt x="4010367" y="333006"/>
                </a:lnTo>
                <a:lnTo>
                  <a:pt x="4010367" y="0"/>
                </a:lnTo>
                <a:lnTo>
                  <a:pt x="0" y="0"/>
                </a:lnTo>
                <a:lnTo>
                  <a:pt x="0" y="33300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6" name="object 6" descr="Blue rectangle">
            <a:extLst>
              <a:ext uri="{FF2B5EF4-FFF2-40B4-BE49-F238E27FC236}">
                <a16:creationId xmlns:a16="http://schemas.microsoft.com/office/drawing/2014/main" id="{9FABC344-E043-45BE-8588-06C658DBCE70}"/>
              </a:ext>
            </a:extLst>
          </p:cNvPr>
          <p:cNvSpPr/>
          <p:nvPr/>
        </p:nvSpPr>
        <p:spPr>
          <a:xfrm>
            <a:off x="235975" y="1020235"/>
            <a:ext cx="11956026" cy="5651386"/>
          </a:xfrm>
          <a:custGeom>
            <a:avLst/>
            <a:gdLst/>
            <a:ahLst/>
            <a:cxnLst/>
            <a:rect l="l" t="t" r="r" b="b"/>
            <a:pathLst>
              <a:path w="6689725" h="3528060">
                <a:moveTo>
                  <a:pt x="0" y="3527996"/>
                </a:moveTo>
                <a:lnTo>
                  <a:pt x="6689648" y="3527996"/>
                </a:lnTo>
                <a:lnTo>
                  <a:pt x="6689648" y="0"/>
                </a:lnTo>
                <a:lnTo>
                  <a:pt x="0" y="0"/>
                </a:lnTo>
                <a:lnTo>
                  <a:pt x="0" y="35279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C5720-51D4-4632-91CD-936B8AB96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227" y="186379"/>
            <a:ext cx="5165558" cy="83385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Dream vs. The Reality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D506CC-0185-443E-82C7-1600C21D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object 9" descr="Beige rectangle">
            <a:extLst>
              <a:ext uri="{FF2B5EF4-FFF2-40B4-BE49-F238E27FC236}">
                <a16:creationId xmlns:a16="http://schemas.microsoft.com/office/drawing/2014/main" id="{02C6628C-972C-4717-AAF3-D882B30F6658}"/>
              </a:ext>
            </a:extLst>
          </p:cNvPr>
          <p:cNvSpPr/>
          <p:nvPr/>
        </p:nvSpPr>
        <p:spPr>
          <a:xfrm flipV="1">
            <a:off x="1506859" y="846403"/>
            <a:ext cx="4923438" cy="45719"/>
          </a:xfrm>
          <a:custGeom>
            <a:avLst/>
            <a:gdLst/>
            <a:ahLst/>
            <a:cxnLst/>
            <a:rect l="l" t="t" r="r" b="b"/>
            <a:pathLst>
              <a:path w="2642870">
                <a:moveTo>
                  <a:pt x="0" y="0"/>
                </a:moveTo>
                <a:lnTo>
                  <a:pt x="2642616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7A818AB-B120-41D5-88A6-933AB9CAAE68}"/>
              </a:ext>
            </a:extLst>
          </p:cNvPr>
          <p:cNvSpPr txBox="1">
            <a:spLocks/>
          </p:cNvSpPr>
          <p:nvPr/>
        </p:nvSpPr>
        <p:spPr>
          <a:xfrm>
            <a:off x="509031" y="1481180"/>
            <a:ext cx="11316929" cy="38331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</a:rPr>
              <a:t>The Dream: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A noble vision by Ratan Tata to provide a </a:t>
            </a:r>
            <a:r>
              <a:rPr lang="en-US" sz="1800" b="1" dirty="0">
                <a:solidFill>
                  <a:schemeClr val="bg1"/>
                </a:solidFill>
              </a:rPr>
              <a:t>safe, affordable, all-weather</a:t>
            </a:r>
            <a:r>
              <a:rPr lang="en-US" sz="1800" dirty="0">
                <a:solidFill>
                  <a:schemeClr val="bg1"/>
                </a:solidFill>
              </a:rPr>
              <a:t> car for Indian families upgrading from two-wheelers.</a:t>
            </a:r>
          </a:p>
          <a:p>
            <a:r>
              <a:rPr lang="en-US" sz="1800" dirty="0">
                <a:solidFill>
                  <a:schemeClr val="bg1"/>
                </a:solidFill>
              </a:rPr>
              <a:t>A solution to a social problem, not just a product.</a:t>
            </a:r>
          </a:p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</a:rPr>
              <a:t>The Reality: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Marketed and perceived globally as the </a:t>
            </a:r>
            <a:r>
              <a:rPr lang="en-US" sz="1800" b="1" dirty="0">
                <a:solidFill>
                  <a:schemeClr val="bg1"/>
                </a:solidFill>
              </a:rPr>
              <a:t>"world's cheapest car."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This single message overshadowed the core promise of safety and dignity.</a:t>
            </a:r>
          </a:p>
          <a:p>
            <a:r>
              <a:rPr lang="en-US" sz="1800" dirty="0">
                <a:solidFill>
                  <a:schemeClr val="bg1"/>
                </a:solidFill>
              </a:rPr>
              <a:t>Initial hype was massive, but it was built on a flawed foundation.</a:t>
            </a:r>
          </a:p>
        </p:txBody>
      </p:sp>
    </p:spTree>
    <p:extLst>
      <p:ext uri="{BB962C8B-B14F-4D97-AF65-F5344CB8AC3E}">
        <p14:creationId xmlns:p14="http://schemas.microsoft.com/office/powerpoint/2010/main" val="1793949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83E3BFA-6657-D8A2-1233-50DDF7D7C2C0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The Fatal Flaw: 'Affordable' vs. 'Cheap'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582D66-3542-CC48-EA31-10C96AF40D68}"/>
              </a:ext>
            </a:extLst>
          </p:cNvPr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Psychology of the Indian Car Buyer: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car is not just transport; it's a powerful symbol of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status, aspiration, and social arrival.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It's an emotional purchase driven by a desire for pride and prestige.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"Cheapest" Stigma: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"cheapest car" tag was a marketing disaster. It branded the Nano as a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"poor man's car."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 one aspires to own the "cheapest" of anything. It stripped the car of all aspirational value.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created a core contradiction: an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"affordable, aspirational product"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is a paradox.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69616BF8-B3EA-EA53-9D7A-96C04AC8E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8844" y="6174902"/>
            <a:ext cx="357116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82EE24B5-652C-4DB5-B7C3-B5BBEC1280B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993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763F353-9CDE-041C-68A7-8C748D264D57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Failures in the Marketing Mix (Part 1)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F32698B7-3CC2-3F91-BE97-3022529D8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8844" y="6174902"/>
            <a:ext cx="35711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2EE24B5-652C-4DB5-B7C3-B5BBEC1280B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83DF2BB8-1D94-0D1B-C11F-5C8679DA8B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015649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3084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ECFA57F-4C89-69D9-038F-B7DC2BA8636F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Failures in the Marketing Mix (Part 2)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212CDD0F-5C9B-5CC3-2A99-3DA9859F1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8844" y="6174902"/>
            <a:ext cx="357116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82EE24B5-652C-4DB5-B7C3-B5BBEC1280B1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ADEEBEF3-4EA9-283E-979A-D522CF606C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729779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1177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7A0840-C9F7-4D1E-C7A0-CA4F5F4F56A1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Key Lessons Learned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878BCCE0-1229-6CF7-7C6F-C68EAFD0C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8844" y="6174902"/>
            <a:ext cx="357116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82EE24B5-652C-4DB5-B7C3-B5BBEC1280B1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DF78EB05-2C60-C2AE-F49C-7F8D6AFD36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558656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0065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Custom 24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45022061_Professional services marketing plan_SL_V1" id="{B214D568-CC3C-4109-877A-D7A12976D35F}" vid="{D425069E-A49A-4A86-9A62-1864F0635A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DDA16B-F3AC-4A5B-9F5F-6F5A8F47A9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118CE8-9293-4220-BA3B-5D353B13ABC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A426FE2C-7640-4BF0-9D68-FDFD4151FD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Professional services marketing plan</Template>
  <TotalTime>23</TotalTime>
  <Words>536</Words>
  <Application>Microsoft Office PowerPoint</Application>
  <PresentationFormat>Widescreen</PresentationFormat>
  <Paragraphs>44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</vt:lpstr>
      <vt:lpstr>Calibri</vt:lpstr>
      <vt:lpstr>Gill Sans MT</vt:lpstr>
      <vt:lpstr>Office Theme</vt:lpstr>
      <vt:lpstr>The Tata Nano: A Marketing Failure How the "People's Car" Missed Its Mark</vt:lpstr>
      <vt:lpstr>The Dream vs. The Reality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SINHA</dc:creator>
  <cp:lastModifiedBy>AMAN SINHA</cp:lastModifiedBy>
  <cp:revision>2</cp:revision>
  <dcterms:created xsi:type="dcterms:W3CDTF">2025-08-06T02:18:02Z</dcterms:created>
  <dcterms:modified xsi:type="dcterms:W3CDTF">2025-08-06T03:48:21Z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