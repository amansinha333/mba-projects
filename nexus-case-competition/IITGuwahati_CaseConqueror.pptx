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5" name="Footer Placeholder 4">
            <a:extLst>
              <a:ext uri="{FF2B5EF4-FFF2-40B4-BE49-F238E27FC236}">
                <a16:creationId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95245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626654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96BE-9AF9-4E97-9204-5B672D797384}"/>
              </a:ext>
            </a:extLst>
          </p:cNvPr>
          <p:cNvSpPr>
            <a:spLocks noGrp="1"/>
          </p:cNvSpPr>
          <p:nvPr>
            <p:ph type="title"/>
          </p:nvPr>
        </p:nvSpPr>
        <p:spPr>
          <a:xfrm>
            <a:off x="1981200" y="2362200"/>
            <a:ext cx="7696200" cy="24003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5EDF98A-E8AE-4443-9A8C-CB35DEB2CE60}"/>
              </a:ext>
            </a:extLst>
          </p:cNvPr>
          <p:cNvSpPr>
            <a:spLocks noGrp="1"/>
          </p:cNvSpPr>
          <p:nvPr>
            <p:ph type="body" idx="1"/>
          </p:nvPr>
        </p:nvSpPr>
        <p:spPr>
          <a:xfrm>
            <a:off x="1981200" y="506730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7114B-35CB-40C5-BCC8-C5039524FFC1}"/>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5" name="Footer Placeholder 4">
            <a:extLst>
              <a:ext uri="{FF2B5EF4-FFF2-40B4-BE49-F238E27FC236}">
                <a16:creationId xmlns:a16="http://schemas.microsoft.com/office/drawing/2014/main" id="{7A1AA324-982E-42C4-8002-5F236877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01596-9353-4C1A-972E-6522F2B4204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201514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0BC9-7469-437A-B92B-0A2627E4B9B4}"/>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1B7D887-595C-4649-AF8E-E78307000D4A}"/>
              </a:ext>
            </a:extLst>
          </p:cNvPr>
          <p:cNvSpPr>
            <a:spLocks noGrp="1"/>
          </p:cNvSpPr>
          <p:nvPr>
            <p:ph sz="half" idx="1"/>
          </p:nvPr>
        </p:nvSpPr>
        <p:spPr>
          <a:xfrm>
            <a:off x="914400" y="1825625"/>
            <a:ext cx="4991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39FE29C-ED37-4DD9-949F-0024342619E1}"/>
              </a:ext>
            </a:extLst>
          </p:cNvPr>
          <p:cNvSpPr>
            <a:spLocks noGrp="1"/>
          </p:cNvSpPr>
          <p:nvPr>
            <p:ph sz="half" idx="2"/>
          </p:nvPr>
        </p:nvSpPr>
        <p:spPr>
          <a:xfrm>
            <a:off x="6248400" y="1825625"/>
            <a:ext cx="5029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6F6AA34-8CC0-4E5B-8396-0AC75633142B}"/>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6" name="Footer Placeholder 5">
            <a:extLst>
              <a:ext uri="{FF2B5EF4-FFF2-40B4-BE49-F238E27FC236}">
                <a16:creationId xmlns:a16="http://schemas.microsoft.com/office/drawing/2014/main" id="{28DF7398-73FE-4D27-AFF9-91BEBFED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00880-10EE-4115-8BBB-13DDF270DBD1}"/>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17541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3C9B-D20D-43FA-BA18-D50F86A9127E}"/>
              </a:ext>
            </a:extLst>
          </p:cNvPr>
          <p:cNvSpPr>
            <a:spLocks noGrp="1"/>
          </p:cNvSpPr>
          <p:nvPr>
            <p:ph type="title"/>
          </p:nvPr>
        </p:nvSpPr>
        <p:spPr>
          <a:xfrm>
            <a:off x="652371" y="647699"/>
            <a:ext cx="10625229" cy="115062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52F00A-F4EE-40FC-9325-373840422D52}"/>
              </a:ext>
            </a:extLst>
          </p:cNvPr>
          <p:cNvSpPr>
            <a:spLocks noGrp="1"/>
          </p:cNvSpPr>
          <p:nvPr>
            <p:ph type="body" idx="1"/>
          </p:nvPr>
        </p:nvSpPr>
        <p:spPr>
          <a:xfrm>
            <a:off x="655863" y="1879599"/>
            <a:ext cx="5157787"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75DD90-A306-4A8B-A54C-8033B7F7F0E9}"/>
              </a:ext>
            </a:extLst>
          </p:cNvPr>
          <p:cNvSpPr>
            <a:spLocks noGrp="1"/>
          </p:cNvSpPr>
          <p:nvPr>
            <p:ph sz="half" idx="2"/>
          </p:nvPr>
        </p:nvSpPr>
        <p:spPr>
          <a:xfrm>
            <a:off x="655863" y="2560955"/>
            <a:ext cx="5157787"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040E0AA-F8F8-4862-B27B-50FAF2F34DE0}"/>
              </a:ext>
            </a:extLst>
          </p:cNvPr>
          <p:cNvSpPr>
            <a:spLocks noGrp="1"/>
          </p:cNvSpPr>
          <p:nvPr>
            <p:ph type="body" sz="quarter" idx="3"/>
          </p:nvPr>
        </p:nvSpPr>
        <p:spPr>
          <a:xfrm>
            <a:off x="6094412" y="1879599"/>
            <a:ext cx="5183188"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EBDD6-EDA1-4CE7-9DDC-9D977E12DDAB}"/>
              </a:ext>
            </a:extLst>
          </p:cNvPr>
          <p:cNvSpPr>
            <a:spLocks noGrp="1"/>
          </p:cNvSpPr>
          <p:nvPr>
            <p:ph sz="quarter" idx="4"/>
          </p:nvPr>
        </p:nvSpPr>
        <p:spPr>
          <a:xfrm>
            <a:off x="6094412" y="2560955"/>
            <a:ext cx="5183188"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0044487-D350-4434-A5C7-A96942FFC95E}"/>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8" name="Footer Placeholder 7">
            <a:extLst>
              <a:ext uri="{FF2B5EF4-FFF2-40B4-BE49-F238E27FC236}">
                <a16:creationId xmlns:a16="http://schemas.microsoft.com/office/drawing/2014/main" id="{3389DC43-E591-42BF-82EE-E4887E4BC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8CD421-2D00-41DD-A393-4739E389D95E}"/>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157639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9A8B-0FAF-431C-9657-9003FA037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BBA2A1-331D-40F8-867B-CE15011360A1}"/>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4" name="Footer Placeholder 3">
            <a:extLst>
              <a:ext uri="{FF2B5EF4-FFF2-40B4-BE49-F238E27FC236}">
                <a16:creationId xmlns:a16="http://schemas.microsoft.com/office/drawing/2014/main" id="{850995C1-5121-47B6-AC6D-F60C0FF6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BE022-9B54-431C-80D5-5D8F2AFCB92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146954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3" name="Footer Placeholder 2">
            <a:extLst>
              <a:ext uri="{FF2B5EF4-FFF2-40B4-BE49-F238E27FC236}">
                <a16:creationId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94153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0B5D-E76D-4797-AD77-15625D675F3A}"/>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9744D8D-C9CF-43B2-905D-2368B17A539A}"/>
              </a:ext>
            </a:extLst>
          </p:cNvPr>
          <p:cNvSpPr>
            <a:spLocks noGrp="1"/>
          </p:cNvSpPr>
          <p:nvPr>
            <p:ph idx="1"/>
          </p:nvPr>
        </p:nvSpPr>
        <p:spPr>
          <a:xfrm>
            <a:off x="5540188" y="914400"/>
            <a:ext cx="5737412" cy="5029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1B4BF0C-D14C-46D7-ACDD-1885DDD883F1}"/>
              </a:ext>
            </a:extLst>
          </p:cNvPr>
          <p:cNvSpPr>
            <a:spLocks noGrp="1"/>
          </p:cNvSpPr>
          <p:nvPr>
            <p:ph type="body" sz="half" idx="2"/>
          </p:nvPr>
        </p:nvSpPr>
        <p:spPr>
          <a:xfrm>
            <a:off x="652372" y="2697479"/>
            <a:ext cx="4119654" cy="3246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FD7D8D-72E7-4ABD-BB87-80BB49003104}"/>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6" name="Footer Placeholder 5">
            <a:extLst>
              <a:ext uri="{FF2B5EF4-FFF2-40B4-BE49-F238E27FC236}">
                <a16:creationId xmlns:a16="http://schemas.microsoft.com/office/drawing/2014/main" id="{A9D9C1CE-C8CE-4364-A021-ADC2D6472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E6FA33-09EF-495A-853E-63750CA37AC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84204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023E-952E-40DF-A101-74D22789D534}"/>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1E98DD-BF5D-4CCA-8C66-F2A6CE11271C}"/>
              </a:ext>
            </a:extLst>
          </p:cNvPr>
          <p:cNvSpPr>
            <a:spLocks noGrp="1"/>
          </p:cNvSpPr>
          <p:nvPr>
            <p:ph type="pic" idx="1"/>
          </p:nvPr>
        </p:nvSpPr>
        <p:spPr>
          <a:xfrm>
            <a:off x="5486400" y="914400"/>
            <a:ext cx="5791200" cy="50291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0EC22A6-F2C2-4A88-BEE5-2D6CEB520EB9}"/>
              </a:ext>
            </a:extLst>
          </p:cNvPr>
          <p:cNvSpPr>
            <a:spLocks noGrp="1"/>
          </p:cNvSpPr>
          <p:nvPr>
            <p:ph type="body" sz="half" idx="2"/>
          </p:nvPr>
        </p:nvSpPr>
        <p:spPr>
          <a:xfrm>
            <a:off x="652372" y="2697480"/>
            <a:ext cx="4119654" cy="31715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1F755-C7AF-4C50-8CA8-828612A767B0}"/>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6" name="Footer Placeholder 5">
            <a:extLst>
              <a:ext uri="{FF2B5EF4-FFF2-40B4-BE49-F238E27FC236}">
                <a16:creationId xmlns:a16="http://schemas.microsoft.com/office/drawing/2014/main" id="{C1EDE175-E818-477C-A3F6-7DD65C126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0B8E3-DB91-440B-818F-71E4248BB10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572664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C0AF-44D0-4830-AF13-49B8522BE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1B4D8C-6045-47B3-9A0C-F2215A904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9A9F1-F398-416A-A8C0-0A36D838DD15}"/>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5" name="Footer Placeholder 4">
            <a:extLst>
              <a:ext uri="{FF2B5EF4-FFF2-40B4-BE49-F238E27FC236}">
                <a16:creationId xmlns:a16="http://schemas.microsoft.com/office/drawing/2014/main" id="{6E37F801-C9FB-4A34-8386-BA9FBACCB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5176-F6E9-4997-8355-74F2A4560A65}"/>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915332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EBC807-13E1-4F3F-83FA-FD9BD24F3B1F}"/>
              </a:ext>
            </a:extLst>
          </p:cNvPr>
          <p:cNvSpPr>
            <a:spLocks noGrp="1"/>
          </p:cNvSpPr>
          <p:nvPr>
            <p:ph type="title" orient="vert"/>
          </p:nvPr>
        </p:nvSpPr>
        <p:spPr>
          <a:xfrm>
            <a:off x="8986520" y="647699"/>
            <a:ext cx="2291080" cy="52959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B7E2EAA-155E-482E-A2B8-547653B253EE}"/>
              </a:ext>
            </a:extLst>
          </p:cNvPr>
          <p:cNvSpPr>
            <a:spLocks noGrp="1"/>
          </p:cNvSpPr>
          <p:nvPr>
            <p:ph type="body" orient="vert" idx="1"/>
          </p:nvPr>
        </p:nvSpPr>
        <p:spPr>
          <a:xfrm>
            <a:off x="652371" y="647699"/>
            <a:ext cx="8120789"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A4BDC-BDD0-417D-AF7C-516EE556D7E4}"/>
              </a:ext>
            </a:extLst>
          </p:cNvPr>
          <p:cNvSpPr>
            <a:spLocks noGrp="1"/>
          </p:cNvSpPr>
          <p:nvPr>
            <p:ph type="dt" sz="half" idx="10"/>
          </p:nvPr>
        </p:nvSpPr>
        <p:spPr/>
        <p:txBody>
          <a:bodyPr/>
          <a:lstStyle/>
          <a:p>
            <a:fld id="{D341B595-366B-43E2-A22E-EA6A78C03F06}" type="datetimeFigureOut">
              <a:rPr lang="en-US" smtClean="0"/>
              <a:t>01-Sep-24</a:t>
            </a:fld>
            <a:endParaRPr lang="en-US"/>
          </a:p>
        </p:txBody>
      </p:sp>
      <p:sp>
        <p:nvSpPr>
          <p:cNvPr id="5" name="Footer Placeholder 4">
            <a:extLst>
              <a:ext uri="{FF2B5EF4-FFF2-40B4-BE49-F238E27FC236}">
                <a16:creationId xmlns:a16="http://schemas.microsoft.com/office/drawing/2014/main" id="{0EF663EC-23F9-4202-80F3-F8E550884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8402D-7367-485B-AEA6-5AB2B8209D1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265403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01-Sep-24</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376396283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0FBD20-EC25-4BEE-AD5F-E459FA1E6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riangular abstract background">
            <a:extLst>
              <a:ext uri="{FF2B5EF4-FFF2-40B4-BE49-F238E27FC236}">
                <a16:creationId xmlns:a16="http://schemas.microsoft.com/office/drawing/2014/main" id="{9CD81F5C-699A-7EAF-86EC-6522364E2419}"/>
              </a:ext>
            </a:extLst>
          </p:cNvPr>
          <p:cNvPicPr>
            <a:picLocks noChangeAspect="1"/>
          </p:cNvPicPr>
          <p:nvPr/>
        </p:nvPicPr>
        <p:blipFill>
          <a:blip r:embed="rId2"/>
          <a:srcRect t="15730"/>
          <a:stretch/>
        </p:blipFill>
        <p:spPr>
          <a:xfrm>
            <a:off x="20" y="-4"/>
            <a:ext cx="12191980" cy="6858004"/>
          </a:xfrm>
          <a:prstGeom prst="rect">
            <a:avLst/>
          </a:prstGeom>
        </p:spPr>
      </p:pic>
      <p:sp>
        <p:nvSpPr>
          <p:cNvPr id="11" name="Rectangle 10">
            <a:extLst>
              <a:ext uri="{FF2B5EF4-FFF2-40B4-BE49-F238E27FC236}">
                <a16:creationId xmlns:a16="http://schemas.microsoft.com/office/drawing/2014/main" id="{67F1335F-97CE-4842-9A57-2B6A3F459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30880"/>
            <a:ext cx="12192000" cy="3627120"/>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29B0284-92E6-1738-9C62-7EB54809A508}"/>
              </a:ext>
            </a:extLst>
          </p:cNvPr>
          <p:cNvSpPr txBox="1"/>
          <p:nvPr/>
        </p:nvSpPr>
        <p:spPr>
          <a:xfrm>
            <a:off x="196645" y="2024630"/>
            <a:ext cx="11798710" cy="1077218"/>
          </a:xfrm>
          <a:prstGeom prst="rect">
            <a:avLst/>
          </a:prstGeom>
          <a:noFill/>
        </p:spPr>
        <p:txBody>
          <a:bodyPr wrap="square" rtlCol="0">
            <a:spAutoFit/>
          </a:bodyPr>
          <a:lstStyle/>
          <a:p>
            <a:pPr algn="ctr"/>
            <a:r>
              <a:rPr lang="en-US" sz="3200" b="1" dirty="0">
                <a:latin typeface="Berlin Sans FB" panose="020E0602020502020306" pitchFamily="34" charset="0"/>
              </a:rPr>
              <a:t>Reimagining the Non-Communicable Disease (NCD)</a:t>
            </a:r>
          </a:p>
          <a:p>
            <a:pPr algn="ctr"/>
            <a:r>
              <a:rPr lang="en-US" sz="3200" b="1" dirty="0">
                <a:latin typeface="Berlin Sans FB" panose="020E0602020502020306" pitchFamily="34" charset="0"/>
              </a:rPr>
              <a:t>Crisis in India: A Tech-Driven Approach</a:t>
            </a:r>
          </a:p>
        </p:txBody>
      </p:sp>
      <p:sp>
        <p:nvSpPr>
          <p:cNvPr id="8" name="TextBox 7">
            <a:extLst>
              <a:ext uri="{FF2B5EF4-FFF2-40B4-BE49-F238E27FC236}">
                <a16:creationId xmlns:a16="http://schemas.microsoft.com/office/drawing/2014/main" id="{56532B77-C4AE-59B0-0931-D89D96547C13}"/>
              </a:ext>
            </a:extLst>
          </p:cNvPr>
          <p:cNvSpPr txBox="1"/>
          <p:nvPr/>
        </p:nvSpPr>
        <p:spPr>
          <a:xfrm>
            <a:off x="1248697" y="3425065"/>
            <a:ext cx="9694606" cy="2862322"/>
          </a:xfrm>
          <a:prstGeom prst="rect">
            <a:avLst/>
          </a:prstGeom>
          <a:noFill/>
        </p:spPr>
        <p:txBody>
          <a:bodyPr wrap="square" rtlCol="0">
            <a:spAutoFit/>
          </a:bodyPr>
          <a:lstStyle/>
          <a:p>
            <a:pPr algn="ctr"/>
            <a:r>
              <a:rPr lang="en-US" sz="3000" b="1" i="1" dirty="0">
                <a:latin typeface="Calisto MT" panose="02040603050505030304" pitchFamily="18" charset="0"/>
              </a:rPr>
              <a:t>Case Conqueror</a:t>
            </a:r>
          </a:p>
          <a:p>
            <a:pPr algn="ctr"/>
            <a:endParaRPr lang="en-US" sz="3000" b="1" i="1" dirty="0">
              <a:latin typeface="Calisto MT" panose="02040603050505030304" pitchFamily="18" charset="0"/>
            </a:endParaRPr>
          </a:p>
          <a:p>
            <a:pPr marL="342900" indent="-342900" algn="ctr">
              <a:buAutoNum type="arabicPeriod"/>
            </a:pPr>
            <a:r>
              <a:rPr lang="en-US" sz="3000" b="1" i="1" dirty="0">
                <a:latin typeface="Calisto MT" panose="02040603050505030304" pitchFamily="18" charset="0"/>
              </a:rPr>
              <a:t>Abhirup Saha</a:t>
            </a:r>
          </a:p>
          <a:p>
            <a:pPr marL="342900" indent="-342900" algn="ctr">
              <a:buAutoNum type="arabicPeriod"/>
            </a:pPr>
            <a:r>
              <a:rPr lang="en-US" sz="3000" b="1" i="1" dirty="0">
                <a:latin typeface="Calisto MT" panose="02040603050505030304" pitchFamily="18" charset="0"/>
              </a:rPr>
              <a:t>Aman Kumar Sinha</a:t>
            </a:r>
          </a:p>
          <a:p>
            <a:pPr marL="342900" indent="-342900" algn="ctr">
              <a:buAutoNum type="arabicPeriod"/>
            </a:pPr>
            <a:r>
              <a:rPr lang="en-US" sz="3000" b="1" i="1" dirty="0">
                <a:latin typeface="Calisto MT" panose="02040603050505030304" pitchFamily="18" charset="0"/>
              </a:rPr>
              <a:t>Divyansh Kumar</a:t>
            </a:r>
          </a:p>
          <a:p>
            <a:pPr marL="342900" indent="-342900" algn="ctr">
              <a:buAutoNum type="arabicPeriod"/>
            </a:pPr>
            <a:r>
              <a:rPr lang="en-US" sz="3000" b="1" i="1" dirty="0">
                <a:latin typeface="Calisto MT" panose="02040603050505030304" pitchFamily="18" charset="0"/>
              </a:rPr>
              <a:t>Harsh Verma</a:t>
            </a:r>
          </a:p>
        </p:txBody>
      </p:sp>
      <p:pic>
        <p:nvPicPr>
          <p:cNvPr id="10" name="Picture 9">
            <a:extLst>
              <a:ext uri="{FF2B5EF4-FFF2-40B4-BE49-F238E27FC236}">
                <a16:creationId xmlns:a16="http://schemas.microsoft.com/office/drawing/2014/main" id="{622A5144-D1F9-8AA7-2B91-2CDC957C55C9}"/>
              </a:ext>
            </a:extLst>
          </p:cNvPr>
          <p:cNvPicPr>
            <a:picLocks noChangeAspect="1"/>
          </p:cNvPicPr>
          <p:nvPr/>
        </p:nvPicPr>
        <p:blipFill>
          <a:blip r:embed="rId3"/>
          <a:stretch>
            <a:fillRect/>
          </a:stretch>
        </p:blipFill>
        <p:spPr>
          <a:xfrm>
            <a:off x="0" y="-4"/>
            <a:ext cx="2053736" cy="1469043"/>
          </a:xfrm>
          <a:prstGeom prst="rect">
            <a:avLst/>
          </a:prstGeom>
          <a:blipFill dpi="0" rotWithShape="1">
            <a:blip r:embed="rId4">
              <a:alphaModFix amt="0"/>
            </a:blip>
            <a:srcRect/>
            <a:tile tx="0" ty="0" sx="100000" sy="100000" flip="none" algn="tl"/>
          </a:blipFill>
        </p:spPr>
      </p:pic>
      <p:pic>
        <p:nvPicPr>
          <p:cNvPr id="12" name="Picture 11">
            <a:extLst>
              <a:ext uri="{FF2B5EF4-FFF2-40B4-BE49-F238E27FC236}">
                <a16:creationId xmlns:a16="http://schemas.microsoft.com/office/drawing/2014/main" id="{60B2F915-D433-36D4-DA2F-21C512FAE5AC}"/>
              </a:ext>
            </a:extLst>
          </p:cNvPr>
          <p:cNvPicPr>
            <a:picLocks noChangeAspect="1"/>
          </p:cNvPicPr>
          <p:nvPr/>
        </p:nvPicPr>
        <p:blipFill>
          <a:blip r:embed="rId5"/>
          <a:stretch>
            <a:fillRect/>
          </a:stretch>
        </p:blipFill>
        <p:spPr>
          <a:xfrm>
            <a:off x="10138264" y="19884"/>
            <a:ext cx="2053736" cy="1806882"/>
          </a:xfrm>
          <a:prstGeom prst="rect">
            <a:avLst/>
          </a:prstGeom>
        </p:spPr>
      </p:pic>
      <p:sp>
        <p:nvSpPr>
          <p:cNvPr id="13" name="TextBox 36">
            <a:extLst>
              <a:ext uri="{FF2B5EF4-FFF2-40B4-BE49-F238E27FC236}">
                <a16:creationId xmlns:a16="http://schemas.microsoft.com/office/drawing/2014/main" id="{23B4AFD6-51CC-85A2-0EAE-5252A3EF6992}"/>
              </a:ext>
            </a:extLst>
          </p:cNvPr>
          <p:cNvSpPr txBox="1"/>
          <p:nvPr/>
        </p:nvSpPr>
        <p:spPr>
          <a:xfrm>
            <a:off x="2348127" y="-4"/>
            <a:ext cx="7495746" cy="184665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1097280"/>
            <a:r>
              <a:rPr lang="en-US" sz="3800" b="1" dirty="0">
                <a:solidFill>
                  <a:srgbClr val="FF0000"/>
                </a:solidFill>
                <a:latin typeface="Calibri" panose="020F0502020204030204" pitchFamily="34" charset="0"/>
                <a:ea typeface="Calibri" panose="020F0502020204030204" pitchFamily="34" charset="0"/>
                <a:cs typeface="Calibri" panose="020F0502020204030204" pitchFamily="34" charset="0"/>
              </a:rPr>
              <a:t>SCHOOL OF BUSINESS</a:t>
            </a:r>
          </a:p>
          <a:p>
            <a:pPr algn="ctr" defTabSz="1097280"/>
            <a:r>
              <a:rPr lang="en-US" sz="3800" dirty="0">
                <a:solidFill>
                  <a:prstClr val="black"/>
                </a:solidFill>
                <a:latin typeface="Calibri" panose="020F0502020204030204" pitchFamily="34" charset="0"/>
                <a:ea typeface="Calibri" panose="020F0502020204030204" pitchFamily="34" charset="0"/>
                <a:cs typeface="Calibri" panose="020F0502020204030204" pitchFamily="34" charset="0"/>
              </a:rPr>
              <a:t> </a:t>
            </a:r>
            <a:r>
              <a:rPr lang="en-US" sz="3800" b="1" dirty="0">
                <a:solidFill>
                  <a:srgbClr val="FFC000"/>
                </a:solidFill>
                <a:latin typeface="Calibri" panose="020F0502020204030204" pitchFamily="34" charset="0"/>
                <a:ea typeface="Calibri" panose="020F0502020204030204" pitchFamily="34" charset="0"/>
                <a:cs typeface="Calibri" panose="020F0502020204030204" pitchFamily="34" charset="0"/>
              </a:rPr>
              <a:t>INDIAN INSTITUTE OF TECHNOLOGY </a:t>
            </a:r>
          </a:p>
          <a:p>
            <a:pPr algn="ctr" defTabSz="1097280"/>
            <a:r>
              <a:rPr lang="en-US" sz="3800" b="1"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GUWAHATI</a:t>
            </a:r>
            <a:r>
              <a:rPr lang="en-US" sz="3800" b="1" dirty="0">
                <a:solidFill>
                  <a:srgbClr val="156082">
                    <a:lumMod val="75000"/>
                  </a:srgbClr>
                </a:solidFill>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441838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7FEC-758E-8EE0-5DD0-8A5F9AC3AE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149C90-DECA-47EE-37EA-5417735810E5}"/>
              </a:ext>
            </a:extLst>
          </p:cNvPr>
          <p:cNvSpPr>
            <a:spLocks noGrp="1"/>
          </p:cNvSpPr>
          <p:nvPr>
            <p:ph idx="1"/>
          </p:nvPr>
        </p:nvSpPr>
        <p:spPr/>
        <p:txBody>
          <a:bodyPr/>
          <a:lstStyle/>
          <a:p>
            <a:endParaRPr lang="en-US"/>
          </a:p>
        </p:txBody>
      </p:sp>
      <p:pic>
        <p:nvPicPr>
          <p:cNvPr id="4" name="Picture 3" descr="Triangular abstract background">
            <a:extLst>
              <a:ext uri="{FF2B5EF4-FFF2-40B4-BE49-F238E27FC236}">
                <a16:creationId xmlns:a16="http://schemas.microsoft.com/office/drawing/2014/main" id="{0C0716B9-684C-C4AC-0BB7-7ABC08269542}"/>
              </a:ext>
            </a:extLst>
          </p:cNvPr>
          <p:cNvPicPr>
            <a:picLocks noChangeAspect="1"/>
          </p:cNvPicPr>
          <p:nvPr/>
        </p:nvPicPr>
        <p:blipFill>
          <a:blip r:embed="rId2"/>
          <a:srcRect t="15730"/>
          <a:stretch/>
        </p:blipFill>
        <p:spPr>
          <a:xfrm>
            <a:off x="20" y="-4"/>
            <a:ext cx="12191980" cy="6858004"/>
          </a:xfrm>
          <a:prstGeom prst="rect">
            <a:avLst/>
          </a:prstGeom>
        </p:spPr>
      </p:pic>
      <p:sp>
        <p:nvSpPr>
          <p:cNvPr id="5" name="TextBox 4">
            <a:extLst>
              <a:ext uri="{FF2B5EF4-FFF2-40B4-BE49-F238E27FC236}">
                <a16:creationId xmlns:a16="http://schemas.microsoft.com/office/drawing/2014/main" id="{A29D333D-9BB1-2825-A7E9-38FDE4871510}"/>
              </a:ext>
            </a:extLst>
          </p:cNvPr>
          <p:cNvSpPr txBox="1"/>
          <p:nvPr/>
        </p:nvSpPr>
        <p:spPr>
          <a:xfrm>
            <a:off x="403120" y="306826"/>
            <a:ext cx="11405422" cy="2031325"/>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Non-Communicable Disease</a:t>
            </a:r>
            <a:r>
              <a:rPr lang="en-US" dirty="0">
                <a:latin typeface="Calibri" panose="020F0502020204030204" pitchFamily="34" charset="0"/>
                <a:ea typeface="Calibri" panose="020F0502020204030204" pitchFamily="34" charset="0"/>
                <a:cs typeface="Calibri" panose="020F0502020204030204" pitchFamily="34" charset="0"/>
              </a:rPr>
              <a:t>: Noncommunicable diseases (NCDs), also known as chronic diseases, tend to be of long duration and are the result of a combination of genetic, physiological, environmental and behavioral and Lifestyle factors.</a:t>
            </a:r>
          </a:p>
          <a:p>
            <a:pPr algn="just"/>
            <a:r>
              <a:rPr lang="en-US" dirty="0">
                <a:latin typeface="Calibri" panose="020F0502020204030204" pitchFamily="34" charset="0"/>
                <a:ea typeface="Calibri" panose="020F0502020204030204" pitchFamily="34" charset="0"/>
                <a:cs typeface="Calibri" panose="020F0502020204030204" pitchFamily="34" charset="0"/>
              </a:rPr>
              <a:t>The main types of NCD are cardiovascular diseases (such as heart attacks and stroke), cancers, chronic respiratory diseases (such as chronic obstructive pulmonary disease and asthma) and diabetes.</a:t>
            </a:r>
          </a:p>
          <a:p>
            <a:pPr algn="just"/>
            <a:r>
              <a:rPr lang="en-US" dirty="0">
                <a:latin typeface="Calibri" panose="020F0502020204030204" pitchFamily="34" charset="0"/>
                <a:ea typeface="Calibri" panose="020F0502020204030204" pitchFamily="34" charset="0"/>
                <a:cs typeface="Calibri" panose="020F0502020204030204" pitchFamily="34" charset="0"/>
              </a:rPr>
              <a:t>NCDs disproportionately affect people in low- and middle-income countries, where more than three quarters of global NCD deaths (31.4 million) occur.</a:t>
            </a:r>
          </a:p>
        </p:txBody>
      </p:sp>
      <p:sp>
        <p:nvSpPr>
          <p:cNvPr id="6" name="TextBox 5">
            <a:extLst>
              <a:ext uri="{FF2B5EF4-FFF2-40B4-BE49-F238E27FC236}">
                <a16:creationId xmlns:a16="http://schemas.microsoft.com/office/drawing/2014/main" id="{1FE71AEF-ECC4-B705-4F94-6D06BDE850B1}"/>
              </a:ext>
            </a:extLst>
          </p:cNvPr>
          <p:cNvSpPr txBox="1"/>
          <p:nvPr/>
        </p:nvSpPr>
        <p:spPr>
          <a:xfrm>
            <a:off x="530942" y="2638898"/>
            <a:ext cx="11277600" cy="3416320"/>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Key facts from WHO</a:t>
            </a:r>
            <a:r>
              <a:rPr lang="en-US" dirty="0">
                <a:latin typeface="Calibri" panose="020F0502020204030204" pitchFamily="34" charset="0"/>
                <a:ea typeface="Calibri" panose="020F0502020204030204" pitchFamily="34" charset="0"/>
                <a:cs typeface="Calibri" panose="020F0502020204030204" pitchFamily="34" charset="0"/>
              </a:rPr>
              <a:t>:</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Noncommunicable diseases (NCDs) kill 41 million people each year, equivalent to 74% of all deaths globally.</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Each year, 17 million people die from a NCD before age 70; 86% of these premature deaths occur in low- and middle-income countries.</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Of all NCD deaths, 77% are in low- and middle-income countries.</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Cardiovascular diseases account for most NCD deaths, or 17.9 million people annually, followed by cancers (9.3 million), chronic respiratory diseases (4.1 million), and diabetes (2.0 million including kidney disease deaths caused by diabetes).</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These four groups of diseases account for over 80% of all premature NCD deaths.</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Tobacco use, physical inactivity, the harmful use of alcohol, unhealthy diets and air pollution all increase the risk of dying from an NCD.</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Detection, screening and treatment of NCDs, as well as palliative care, are key components of the response to NCDs</a:t>
            </a:r>
          </a:p>
        </p:txBody>
      </p:sp>
    </p:spTree>
    <p:extLst>
      <p:ext uri="{BB962C8B-B14F-4D97-AF65-F5344CB8AC3E}">
        <p14:creationId xmlns:p14="http://schemas.microsoft.com/office/powerpoint/2010/main" val="146924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8A3564EE-0C34-2CE8-0429-9D9682D2E864}"/>
              </a:ext>
            </a:extLst>
          </p:cNvPr>
          <p:cNvPicPr>
            <a:picLocks noChangeAspect="1"/>
          </p:cNvPicPr>
          <p:nvPr/>
        </p:nvPicPr>
        <p:blipFill>
          <a:blip r:embed="rId2"/>
          <a:srcRect t="15730"/>
          <a:stretch/>
        </p:blipFill>
        <p:spPr>
          <a:xfrm>
            <a:off x="20" y="-4"/>
            <a:ext cx="12191980" cy="6858004"/>
          </a:xfrm>
          <a:prstGeom prst="rect">
            <a:avLst/>
          </a:prstGeom>
        </p:spPr>
      </p:pic>
      <p:sp>
        <p:nvSpPr>
          <p:cNvPr id="7" name="TextBox 6">
            <a:extLst>
              <a:ext uri="{FF2B5EF4-FFF2-40B4-BE49-F238E27FC236}">
                <a16:creationId xmlns:a16="http://schemas.microsoft.com/office/drawing/2014/main" id="{D35161C9-B5A8-C1BD-E8DA-F2879BAD43D6}"/>
              </a:ext>
            </a:extLst>
          </p:cNvPr>
          <p:cNvSpPr txBox="1"/>
          <p:nvPr/>
        </p:nvSpPr>
        <p:spPr>
          <a:xfrm>
            <a:off x="432619" y="152399"/>
            <a:ext cx="11326762" cy="369332"/>
          </a:xfrm>
          <a:prstGeom prst="rect">
            <a:avLst/>
          </a:prstGeom>
          <a:noFill/>
        </p:spPr>
        <p:txBody>
          <a:bodyPr wrap="square" rtlCol="0">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Various Slides representing GenZ population in India, Number of deaths caused by NCD and its bifurcation.</a:t>
            </a:r>
          </a:p>
        </p:txBody>
      </p:sp>
      <p:pic>
        <p:nvPicPr>
          <p:cNvPr id="9" name="Picture 8" descr="A map of india with green and white text&#10;&#10;Description automatically generated">
            <a:extLst>
              <a:ext uri="{FF2B5EF4-FFF2-40B4-BE49-F238E27FC236}">
                <a16:creationId xmlns:a16="http://schemas.microsoft.com/office/drawing/2014/main" id="{627AEFD7-119B-FC99-7E34-80AB009836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634" y="521731"/>
            <a:ext cx="3125322" cy="2940322"/>
          </a:xfrm>
          <a:prstGeom prst="rect">
            <a:avLst/>
          </a:prstGeom>
        </p:spPr>
      </p:pic>
      <p:pic>
        <p:nvPicPr>
          <p:cNvPr id="11" name="Picture 10" descr="A diagram of the different types of diabetes&#10;&#10;Description automatically generated">
            <a:extLst>
              <a:ext uri="{FF2B5EF4-FFF2-40B4-BE49-F238E27FC236}">
                <a16:creationId xmlns:a16="http://schemas.microsoft.com/office/drawing/2014/main" id="{CC07FCCE-6AE9-A06E-B0C0-6C88D32084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6569" y="521731"/>
            <a:ext cx="3969687" cy="2940322"/>
          </a:xfrm>
          <a:prstGeom prst="rect">
            <a:avLst/>
          </a:prstGeom>
        </p:spPr>
      </p:pic>
      <p:pic>
        <p:nvPicPr>
          <p:cNvPr id="13" name="Picture 12" descr="A graph of numbers and bars&#10;&#10;Description automatically generated with medium confidence">
            <a:extLst>
              <a:ext uri="{FF2B5EF4-FFF2-40B4-BE49-F238E27FC236}">
                <a16:creationId xmlns:a16="http://schemas.microsoft.com/office/drawing/2014/main" id="{33E01E88-B69E-3742-02B4-22D9D1800E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6871" y="521731"/>
            <a:ext cx="4334495" cy="2940321"/>
          </a:xfrm>
          <a:prstGeom prst="rect">
            <a:avLst/>
          </a:prstGeom>
        </p:spPr>
      </p:pic>
      <p:pic>
        <p:nvPicPr>
          <p:cNvPr id="15" name="Picture 14" descr="A graphic of a person with a heart and a phone&#10;&#10;Description automatically generated with medium confidence">
            <a:extLst>
              <a:ext uri="{FF2B5EF4-FFF2-40B4-BE49-F238E27FC236}">
                <a16:creationId xmlns:a16="http://schemas.microsoft.com/office/drawing/2014/main" id="{6CCCBD79-3B44-CB8A-0C3D-954F382689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4493" y="3662763"/>
            <a:ext cx="4789418" cy="3014190"/>
          </a:xfrm>
          <a:prstGeom prst="rect">
            <a:avLst/>
          </a:prstGeom>
        </p:spPr>
      </p:pic>
      <p:sp>
        <p:nvSpPr>
          <p:cNvPr id="16" name="TextBox 15">
            <a:extLst>
              <a:ext uri="{FF2B5EF4-FFF2-40B4-BE49-F238E27FC236}">
                <a16:creationId xmlns:a16="http://schemas.microsoft.com/office/drawing/2014/main" id="{5DDCF429-4D18-3133-161B-D48B43B26961}"/>
              </a:ext>
            </a:extLst>
          </p:cNvPr>
          <p:cNvSpPr txBox="1"/>
          <p:nvPr/>
        </p:nvSpPr>
        <p:spPr>
          <a:xfrm>
            <a:off x="1165630" y="4135585"/>
            <a:ext cx="4681879" cy="2031325"/>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Future Mortality Rate Predictions Due to NCDs</a:t>
            </a:r>
          </a:p>
          <a:p>
            <a:pPr marL="342900" indent="-342900" algn="just">
              <a:buAutoNum type="arabicPeriod"/>
            </a:pPr>
            <a:r>
              <a:rPr lang="en-US" dirty="0">
                <a:latin typeface="Calibri" panose="020F0502020204030204" pitchFamily="34" charset="0"/>
                <a:ea typeface="Calibri" panose="020F0502020204030204" pitchFamily="34" charset="0"/>
                <a:cs typeface="Calibri" panose="020F0502020204030204" pitchFamily="34" charset="0"/>
              </a:rPr>
              <a:t>Rising Global Burden</a:t>
            </a:r>
          </a:p>
          <a:p>
            <a:pPr marL="342900" indent="-342900" algn="just">
              <a:buAutoNum type="arabicPeriod"/>
            </a:pPr>
            <a:r>
              <a:rPr lang="en-US" dirty="0">
                <a:latin typeface="Calibri" panose="020F0502020204030204" pitchFamily="34" charset="0"/>
                <a:ea typeface="Calibri" panose="020F0502020204030204" pitchFamily="34" charset="0"/>
                <a:cs typeface="Calibri" panose="020F0502020204030204" pitchFamily="34" charset="0"/>
              </a:rPr>
              <a:t>Significant Increase in Low- and Middle-Income Countries</a:t>
            </a:r>
          </a:p>
          <a:p>
            <a:pPr marL="342900" indent="-342900" algn="just">
              <a:buAutoNum type="arabicPeriod"/>
            </a:pPr>
            <a:r>
              <a:rPr lang="en-US" dirty="0">
                <a:latin typeface="Calibri" panose="020F0502020204030204" pitchFamily="34" charset="0"/>
                <a:ea typeface="Calibri" panose="020F0502020204030204" pitchFamily="34" charset="0"/>
                <a:cs typeface="Calibri" panose="020F0502020204030204" pitchFamily="34" charset="0"/>
              </a:rPr>
              <a:t>Impact of Aging Population</a:t>
            </a:r>
          </a:p>
          <a:p>
            <a:pPr marL="342900" indent="-342900" algn="just">
              <a:buAutoNum type="arabicPeriod"/>
            </a:pPr>
            <a:r>
              <a:rPr lang="en-US" dirty="0">
                <a:latin typeface="Calibri" panose="020F0502020204030204" pitchFamily="34" charset="0"/>
                <a:ea typeface="Calibri" panose="020F0502020204030204" pitchFamily="34" charset="0"/>
                <a:cs typeface="Calibri" panose="020F0502020204030204" pitchFamily="34" charset="0"/>
              </a:rPr>
              <a:t>Lifestyle Factors Driving Mortality</a:t>
            </a:r>
          </a:p>
          <a:p>
            <a:pPr marL="342900" indent="-342900" algn="just">
              <a:buAutoNum type="arabicPeriod"/>
            </a:pPr>
            <a:r>
              <a:rPr lang="en-US" dirty="0">
                <a:latin typeface="Calibri" panose="020F0502020204030204" pitchFamily="34" charset="0"/>
                <a:ea typeface="Calibri" panose="020F0502020204030204" pitchFamily="34" charset="0"/>
                <a:cs typeface="Calibri" panose="020F0502020204030204" pitchFamily="34" charset="0"/>
              </a:rPr>
              <a:t>Projected Death Toll by 2030</a:t>
            </a:r>
          </a:p>
        </p:txBody>
      </p:sp>
    </p:spTree>
    <p:extLst>
      <p:ext uri="{BB962C8B-B14F-4D97-AF65-F5344CB8AC3E}">
        <p14:creationId xmlns:p14="http://schemas.microsoft.com/office/powerpoint/2010/main" val="108361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7ED8913-0295-4A95-B0E8-D143E80D7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riangular abstract background">
            <a:extLst>
              <a:ext uri="{FF2B5EF4-FFF2-40B4-BE49-F238E27FC236}">
                <a16:creationId xmlns:a16="http://schemas.microsoft.com/office/drawing/2014/main" id="{DE0D6127-940C-F3C1-A547-9954C226D4C8}"/>
              </a:ext>
            </a:extLst>
          </p:cNvPr>
          <p:cNvPicPr>
            <a:picLocks noChangeAspect="1"/>
          </p:cNvPicPr>
          <p:nvPr/>
        </p:nvPicPr>
        <p:blipFill>
          <a:blip r:embed="rId2"/>
          <a:srcRect t="15730"/>
          <a:stretch/>
        </p:blipFill>
        <p:spPr>
          <a:xfrm>
            <a:off x="20" y="-4"/>
            <a:ext cx="12191980" cy="6858004"/>
          </a:xfrm>
          <a:prstGeom prst="rect">
            <a:avLst/>
          </a:prstGeom>
        </p:spPr>
      </p:pic>
      <p:sp>
        <p:nvSpPr>
          <p:cNvPr id="5" name="TextBox 4">
            <a:extLst>
              <a:ext uri="{FF2B5EF4-FFF2-40B4-BE49-F238E27FC236}">
                <a16:creationId xmlns:a16="http://schemas.microsoft.com/office/drawing/2014/main" id="{58CE4953-DE29-DEFB-A914-6F7FB26C9AB9}"/>
              </a:ext>
            </a:extLst>
          </p:cNvPr>
          <p:cNvSpPr txBox="1"/>
          <p:nvPr/>
        </p:nvSpPr>
        <p:spPr>
          <a:xfrm>
            <a:off x="294968" y="50460"/>
            <a:ext cx="11503742" cy="646331"/>
          </a:xfrm>
          <a:prstGeom prst="rect">
            <a:avLst/>
          </a:prstGeom>
          <a:noFill/>
        </p:spPr>
        <p:txBody>
          <a:bodyPr wrap="square" rtlCol="0">
            <a:spAutoFit/>
          </a:bodyPr>
          <a:lstStyle/>
          <a:p>
            <a:pPr algn="ctr"/>
            <a:r>
              <a:rPr lang="en-US" b="1" u="sng" dirty="0">
                <a:latin typeface="Calibri" panose="020F0502020204030204" pitchFamily="34" charset="0"/>
                <a:ea typeface="Calibri" panose="020F0502020204030204" pitchFamily="34" charset="0"/>
                <a:cs typeface="Calibri" panose="020F0502020204030204" pitchFamily="34" charset="0"/>
              </a:rPr>
              <a:t>"The fight against non-communicable diseases is not just about curing the ill; it's about creating environments where health is the default, prevention is the priority, and every life is valued."</a:t>
            </a:r>
          </a:p>
        </p:txBody>
      </p:sp>
      <p:sp>
        <p:nvSpPr>
          <p:cNvPr id="6" name="TextBox 5">
            <a:extLst>
              <a:ext uri="{FF2B5EF4-FFF2-40B4-BE49-F238E27FC236}">
                <a16:creationId xmlns:a16="http://schemas.microsoft.com/office/drawing/2014/main" id="{BEC3A218-6E3A-771A-8F08-725384A869A8}"/>
              </a:ext>
            </a:extLst>
          </p:cNvPr>
          <p:cNvSpPr txBox="1"/>
          <p:nvPr/>
        </p:nvSpPr>
        <p:spPr>
          <a:xfrm>
            <a:off x="0" y="747251"/>
            <a:ext cx="12191980" cy="1015663"/>
          </a:xfrm>
          <a:prstGeom prst="rect">
            <a:avLst/>
          </a:prstGeom>
          <a:noFill/>
        </p:spPr>
        <p:txBody>
          <a:bodyPr wrap="square" rtlCol="0">
            <a:spAutoFit/>
          </a:bodyPr>
          <a:lstStyle/>
          <a:p>
            <a:pPr algn="just"/>
            <a:r>
              <a:rPr lang="en-US" sz="2400" b="1" dirty="0">
                <a:latin typeface="Calibri" panose="020F0502020204030204" pitchFamily="34" charset="0"/>
                <a:ea typeface="Calibri" panose="020F0502020204030204" pitchFamily="34" charset="0"/>
                <a:cs typeface="Calibri" panose="020F0502020204030204" pitchFamily="34" charset="0"/>
              </a:rPr>
              <a:t>Solution:</a:t>
            </a:r>
          </a:p>
          <a:p>
            <a:pPr algn="just"/>
            <a:r>
              <a:rPr lang="en-US" dirty="0">
                <a:latin typeface="Calibri" panose="020F0502020204030204" pitchFamily="34" charset="0"/>
                <a:ea typeface="Calibri" panose="020F0502020204030204" pitchFamily="34" charset="0"/>
                <a:cs typeface="Calibri" panose="020F0502020204030204" pitchFamily="34" charset="0"/>
              </a:rPr>
              <a:t>We will engage NCD patients and Gen Z through a comprehensive app and software platform, driven by integrated and personalized EHR (Electronic Health Record) technology and a health and AI based Lifestyle tracker. </a:t>
            </a:r>
          </a:p>
        </p:txBody>
      </p:sp>
      <p:sp>
        <p:nvSpPr>
          <p:cNvPr id="7" name="TextBox 6">
            <a:extLst>
              <a:ext uri="{FF2B5EF4-FFF2-40B4-BE49-F238E27FC236}">
                <a16:creationId xmlns:a16="http://schemas.microsoft.com/office/drawing/2014/main" id="{2F9D5EDA-1897-385C-B2E0-6378B7171A9B}"/>
              </a:ext>
            </a:extLst>
          </p:cNvPr>
          <p:cNvSpPr txBox="1"/>
          <p:nvPr/>
        </p:nvSpPr>
        <p:spPr>
          <a:xfrm>
            <a:off x="0" y="2133600"/>
            <a:ext cx="6096000" cy="4293483"/>
          </a:xfrm>
          <a:prstGeom prst="rect">
            <a:avLst/>
          </a:prstGeom>
          <a:noFill/>
        </p:spPr>
        <p:txBody>
          <a:bodyPr wrap="square" rtlCol="0">
            <a:spAutoFit/>
          </a:bodyPr>
          <a:lstStyle/>
          <a:p>
            <a:pPr algn="just"/>
            <a:r>
              <a:rPr lang="en-US" sz="1700" b="1" dirty="0">
                <a:latin typeface="Calibri" panose="020F0502020204030204" pitchFamily="34" charset="0"/>
                <a:ea typeface="Calibri" panose="020F0502020204030204" pitchFamily="34" charset="0"/>
                <a:cs typeface="Calibri" panose="020F0502020204030204" pitchFamily="34" charset="0"/>
              </a:rPr>
              <a:t>Explanation: </a:t>
            </a:r>
          </a:p>
          <a:p>
            <a:pPr algn="just"/>
            <a:endParaRPr lang="en-US" sz="1700" dirty="0">
              <a:latin typeface="Calibri" panose="020F0502020204030204" pitchFamily="34" charset="0"/>
              <a:ea typeface="Calibri" panose="020F0502020204030204" pitchFamily="34" charset="0"/>
              <a:cs typeface="Calibri" panose="020F0502020204030204" pitchFamily="34" charset="0"/>
            </a:endParaRPr>
          </a:p>
          <a:p>
            <a:pPr algn="just"/>
            <a:r>
              <a:rPr lang="en-US" sz="1500" dirty="0">
                <a:latin typeface="Calibri" panose="020F0502020204030204" pitchFamily="34" charset="0"/>
                <a:ea typeface="Calibri" panose="020F0502020204030204" pitchFamily="34" charset="0"/>
                <a:cs typeface="Calibri" panose="020F0502020204030204" pitchFamily="34" charset="0"/>
              </a:rPr>
              <a:t>We will create a software platform that connects doctors, hospitals, and patients by maintaining up-to-date Electronic Health Records (EHR) for all patients. This will enable smooth communication and data sharing, improving healthcare delivery. </a:t>
            </a:r>
          </a:p>
          <a:p>
            <a:pPr algn="just"/>
            <a:r>
              <a:rPr lang="en-US" sz="1500" dirty="0">
                <a:latin typeface="Calibri" panose="020F0502020204030204" pitchFamily="34" charset="0"/>
                <a:ea typeface="Calibri" panose="020F0502020204030204" pitchFamily="34" charset="0"/>
                <a:cs typeface="Calibri" panose="020F0502020204030204" pitchFamily="34" charset="0"/>
              </a:rPr>
              <a:t>Key features include:</a:t>
            </a:r>
          </a:p>
          <a:p>
            <a:pPr marL="171450" indent="-1714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EHR Management: Secure storage and regular updates of patient medical data, including history, prescriptions, and reports.</a:t>
            </a:r>
          </a:p>
          <a:p>
            <a:pPr marL="171450" indent="-1714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Accessibility: Available to both public and private hospitals, doctors, and patients for easy access and sharing of medical records.</a:t>
            </a:r>
          </a:p>
          <a:p>
            <a:pPr marL="171450" indent="-1714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Security: Robust security to protect patient privacy, allowing access only to authorized users.</a:t>
            </a:r>
          </a:p>
          <a:p>
            <a:pPr marL="171450" indent="-1714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Communication: Direct communication between doctors and patients for appointments, report sharing, and treatment discussions.</a:t>
            </a:r>
          </a:p>
          <a:p>
            <a:pPr marL="171450" indent="-1714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Integration: Compatibility with other healthcare systems and devices for streamlined data collection and analysis.</a:t>
            </a:r>
          </a:p>
          <a:p>
            <a:pPr algn="just"/>
            <a:endParaRPr lang="en-US" sz="14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descr="A group of people sitting in front of a computer">
            <a:extLst>
              <a:ext uri="{FF2B5EF4-FFF2-40B4-BE49-F238E27FC236}">
                <a16:creationId xmlns:a16="http://schemas.microsoft.com/office/drawing/2014/main" id="{0D4A31DE-3598-13BC-DB41-21685BE91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80" y="2133600"/>
            <a:ext cx="6096000" cy="4724400"/>
          </a:xfrm>
          <a:prstGeom prst="rect">
            <a:avLst/>
          </a:prstGeom>
        </p:spPr>
      </p:pic>
    </p:spTree>
    <p:extLst>
      <p:ext uri="{BB962C8B-B14F-4D97-AF65-F5344CB8AC3E}">
        <p14:creationId xmlns:p14="http://schemas.microsoft.com/office/powerpoint/2010/main" val="3192494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4A07EC15-5B1E-CDAD-3F94-036A6DFE980B}"/>
              </a:ext>
            </a:extLst>
          </p:cNvPr>
          <p:cNvPicPr>
            <a:picLocks noChangeAspect="1"/>
          </p:cNvPicPr>
          <p:nvPr/>
        </p:nvPicPr>
        <p:blipFill>
          <a:blip r:embed="rId2"/>
          <a:srcRect t="15730"/>
          <a:stretch/>
        </p:blipFill>
        <p:spPr>
          <a:xfrm>
            <a:off x="20" y="-4"/>
            <a:ext cx="12191980" cy="6858004"/>
          </a:xfrm>
          <a:prstGeom prst="rect">
            <a:avLst/>
          </a:prstGeom>
        </p:spPr>
      </p:pic>
      <p:sp>
        <p:nvSpPr>
          <p:cNvPr id="8" name="TextBox 7">
            <a:extLst>
              <a:ext uri="{FF2B5EF4-FFF2-40B4-BE49-F238E27FC236}">
                <a16:creationId xmlns:a16="http://schemas.microsoft.com/office/drawing/2014/main" id="{EF489B58-32E6-4539-6DAA-83DB7D7D7F5E}"/>
              </a:ext>
            </a:extLst>
          </p:cNvPr>
          <p:cNvSpPr txBox="1"/>
          <p:nvPr/>
        </p:nvSpPr>
        <p:spPr>
          <a:xfrm>
            <a:off x="-18" y="546290"/>
            <a:ext cx="6558116" cy="3323987"/>
          </a:xfrm>
          <a:prstGeom prst="rect">
            <a:avLst/>
          </a:prstGeom>
          <a:noFill/>
        </p:spPr>
        <p:txBody>
          <a:bodyPr wrap="square">
            <a:spAutoFit/>
          </a:bodyPr>
          <a:lstStyle/>
          <a:p>
            <a:pPr algn="just"/>
            <a:r>
              <a:rPr lang="en-US" sz="1500" dirty="0">
                <a:latin typeface="Calibri" panose="020F0502020204030204" pitchFamily="34" charset="0"/>
                <a:ea typeface="Calibri" panose="020F0502020204030204" pitchFamily="34" charset="0"/>
                <a:cs typeface="Calibri" panose="020F0502020204030204" pitchFamily="34" charset="0"/>
              </a:rPr>
              <a:t>Along with the software, we will also develop an app that will integrate AI and a Health Tracker. This Health Tracker app will record day-to-day lifestyle data, such as how many kilometers were walked, the number of footsteps, physical data, sleep cycles, and other health tracker data. All this data will be securely stored in the app and made available to doctors from time to time, allowing them to monitor the patient's health condition and provide appropriate medical advice. </a:t>
            </a:r>
          </a:p>
          <a:p>
            <a:pPr algn="just"/>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r>
              <a:rPr lang="en-US" sz="1500" dirty="0">
                <a:latin typeface="Calibri" panose="020F0502020204030204" pitchFamily="34" charset="0"/>
                <a:ea typeface="Calibri" panose="020F0502020204030204" pitchFamily="34" charset="0"/>
                <a:cs typeface="Calibri" panose="020F0502020204030204" pitchFamily="34" charset="0"/>
              </a:rPr>
              <a:t>To engage GenZ and create awareness we will develop a reward-based system. The system will work as follows: Users earn personalized rewards like Movie tickets, Food Coupons, Netflix subscriptions etc. for achieving health goals set on the Health Tracker app. Rewards will only be given for engaging in awareness activities and sharing contents on social media apps and then updating the details on app. This system promotes healthy habits and active app use.</a:t>
            </a:r>
          </a:p>
          <a:p>
            <a:pPr algn="just"/>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descr="A hand holding a phone&#10;&#10;Description automatically generated">
            <a:extLst>
              <a:ext uri="{FF2B5EF4-FFF2-40B4-BE49-F238E27FC236}">
                <a16:creationId xmlns:a16="http://schemas.microsoft.com/office/drawing/2014/main" id="{C83A4843-6FE9-070B-89C8-AC0F85F1DF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8117" y="1"/>
            <a:ext cx="5633864" cy="4201122"/>
          </a:xfrm>
          <a:prstGeom prst="rect">
            <a:avLst/>
          </a:prstGeom>
        </p:spPr>
      </p:pic>
      <p:sp>
        <p:nvSpPr>
          <p:cNvPr id="11" name="TextBox 10">
            <a:extLst>
              <a:ext uri="{FF2B5EF4-FFF2-40B4-BE49-F238E27FC236}">
                <a16:creationId xmlns:a16="http://schemas.microsoft.com/office/drawing/2014/main" id="{C1C193A4-903A-5267-0D6F-839A7BD3AED8}"/>
              </a:ext>
            </a:extLst>
          </p:cNvPr>
          <p:cNvSpPr txBox="1"/>
          <p:nvPr/>
        </p:nvSpPr>
        <p:spPr>
          <a:xfrm>
            <a:off x="0" y="4513006"/>
            <a:ext cx="12192000" cy="2169825"/>
          </a:xfrm>
          <a:prstGeom prst="rect">
            <a:avLst/>
          </a:prstGeom>
          <a:noFill/>
        </p:spPr>
        <p:txBody>
          <a:bodyPr wrap="square" rtlCol="0">
            <a:spAutoFit/>
          </a:bodyPr>
          <a:lstStyle/>
          <a:p>
            <a:pPr algn="just"/>
            <a:r>
              <a:rPr lang="en-US" sz="1500" dirty="0">
                <a:latin typeface="Calibri" panose="020F0502020204030204" pitchFamily="34" charset="0"/>
                <a:ea typeface="Calibri" panose="020F0502020204030204" pitchFamily="34" charset="0"/>
                <a:cs typeface="Calibri" panose="020F0502020204030204" pitchFamily="34" charset="0"/>
              </a:rPr>
              <a:t>For NCD patients improving their lifestyle or those in advanced stages, we will  provide personalized rewards based on their progress. This will boost their morale and confidence. These personalized experiences will reflect our social responsibility and marketing philosophy.</a:t>
            </a:r>
          </a:p>
          <a:p>
            <a:pPr algn="just"/>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r>
              <a:rPr lang="en-US" sz="1500" dirty="0">
                <a:latin typeface="Calibri" panose="020F0502020204030204" pitchFamily="34" charset="0"/>
                <a:ea typeface="Calibri" panose="020F0502020204030204" pitchFamily="34" charset="0"/>
                <a:cs typeface="Calibri" panose="020F0502020204030204" pitchFamily="34" charset="0"/>
              </a:rPr>
              <a:t>Our revenue model is subscription-based, generating income from both patients and hospitals.</a:t>
            </a:r>
          </a:p>
          <a:p>
            <a:pPr marL="285750" indent="-2857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Patients: They will subscribe to the platform to access the benefits of the software, such as maintaining and sharing their EHRs, direct communication with doctors, appointment scheduling, and accessing their medical history and reports.</a:t>
            </a:r>
          </a:p>
          <a:p>
            <a:pPr marL="285750" indent="-285750" algn="just">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Hospitals: Hospitals will subscribe to access our technology and the patient data we provide. This allows them to seamlessly integrate with the platform, ensuring efficient healthcare delivery, streamlined patient management, and access to comprehensive patient records.</a:t>
            </a:r>
          </a:p>
          <a:p>
            <a:pPr algn="just"/>
            <a:r>
              <a:rPr lang="en-US" sz="1500" dirty="0">
                <a:latin typeface="Calibri" panose="020F0502020204030204" pitchFamily="34" charset="0"/>
                <a:ea typeface="Calibri" panose="020F0502020204030204" pitchFamily="34" charset="0"/>
                <a:cs typeface="Calibri" panose="020F0502020204030204" pitchFamily="34" charset="0"/>
              </a:rPr>
              <a:t>This dual subscription model ensures a steady revenue stream while providing value to both patients and healthcare providers.</a:t>
            </a:r>
          </a:p>
        </p:txBody>
      </p:sp>
    </p:spTree>
    <p:extLst>
      <p:ext uri="{BB962C8B-B14F-4D97-AF65-F5344CB8AC3E}">
        <p14:creationId xmlns:p14="http://schemas.microsoft.com/office/powerpoint/2010/main" val="291013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21516C18-EE01-C8AA-10B9-F98D46532B70}"/>
              </a:ext>
            </a:extLst>
          </p:cNvPr>
          <p:cNvPicPr>
            <a:picLocks noChangeAspect="1"/>
          </p:cNvPicPr>
          <p:nvPr/>
        </p:nvPicPr>
        <p:blipFill>
          <a:blip r:embed="rId2"/>
          <a:srcRect t="15730"/>
          <a:stretch/>
        </p:blipFill>
        <p:spPr>
          <a:xfrm>
            <a:off x="20" y="-4"/>
            <a:ext cx="12191980" cy="6858004"/>
          </a:xfrm>
          <a:prstGeom prst="rect">
            <a:avLst/>
          </a:prstGeom>
        </p:spPr>
      </p:pic>
      <p:sp>
        <p:nvSpPr>
          <p:cNvPr id="5" name="TextBox 4">
            <a:extLst>
              <a:ext uri="{FF2B5EF4-FFF2-40B4-BE49-F238E27FC236}">
                <a16:creationId xmlns:a16="http://schemas.microsoft.com/office/drawing/2014/main" id="{17CDF90A-55EB-0A4C-77C6-4164338C6364}"/>
              </a:ext>
            </a:extLst>
          </p:cNvPr>
          <p:cNvSpPr txBox="1"/>
          <p:nvPr/>
        </p:nvSpPr>
        <p:spPr>
          <a:xfrm>
            <a:off x="0" y="4627779"/>
            <a:ext cx="12280490" cy="1415772"/>
          </a:xfrm>
          <a:prstGeom prst="rect">
            <a:avLst/>
          </a:prstGeom>
          <a:noFill/>
        </p:spPr>
        <p:txBody>
          <a:bodyPr wrap="square" rtlCol="0">
            <a:spAutoFit/>
          </a:bodyPr>
          <a:lstStyle/>
          <a:p>
            <a:r>
              <a:rPr lang="en-US" sz="3200" b="1" u="sng" dirty="0">
                <a:latin typeface="Calibri" panose="020F0502020204030204" pitchFamily="34" charset="0"/>
                <a:ea typeface="Calibri" panose="020F0502020204030204" pitchFamily="34" charset="0"/>
                <a:cs typeface="Calibri" panose="020F0502020204030204" pitchFamily="34" charset="0"/>
              </a:rPr>
              <a:t>Future Vision:</a:t>
            </a:r>
          </a:p>
          <a:p>
            <a:pPr marL="285750" indent="-285750">
              <a:buFont typeface="Arial" panose="020B0604020202020204" pitchFamily="34" charset="0"/>
              <a:buChar char="•"/>
            </a:pPr>
            <a:endParaRPr lang="en-US" dirty="0"/>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We will incorporate Genome Sequence in our app and software which will help in predicting future abnormalities and diseases.</a:t>
            </a:r>
          </a:p>
          <a:p>
            <a:pPr marL="285750" indent="-285750" algn="jus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We will develop a microchip for advanced and enhanced tracking of the patients. </a:t>
            </a:r>
          </a:p>
        </p:txBody>
      </p:sp>
      <p:sp>
        <p:nvSpPr>
          <p:cNvPr id="6" name="TextBox 5">
            <a:extLst>
              <a:ext uri="{FF2B5EF4-FFF2-40B4-BE49-F238E27FC236}">
                <a16:creationId xmlns:a16="http://schemas.microsoft.com/office/drawing/2014/main" id="{99E3C417-A2EC-4AE5-FF7C-32B499194221}"/>
              </a:ext>
            </a:extLst>
          </p:cNvPr>
          <p:cNvSpPr txBox="1"/>
          <p:nvPr/>
        </p:nvSpPr>
        <p:spPr>
          <a:xfrm>
            <a:off x="0" y="334296"/>
            <a:ext cx="12192000" cy="4293483"/>
          </a:xfrm>
          <a:prstGeom prst="rect">
            <a:avLst/>
          </a:prstGeom>
          <a:noFill/>
        </p:spPr>
        <p:txBody>
          <a:bodyPr wrap="square" rtlCol="0">
            <a:spAutoFit/>
          </a:bodyPr>
          <a:lstStyle/>
          <a:p>
            <a:pPr algn="just"/>
            <a:r>
              <a:rPr lang="en-US" sz="3200" b="1" u="sng" dirty="0">
                <a:latin typeface="Calibri" panose="020F0502020204030204" pitchFamily="34" charset="0"/>
                <a:ea typeface="Calibri" panose="020F0502020204030204" pitchFamily="34" charset="0"/>
                <a:cs typeface="Calibri" panose="020F0502020204030204" pitchFamily="34" charset="0"/>
              </a:rPr>
              <a:t>Future benefits of implementing our solution</a:t>
            </a:r>
            <a:r>
              <a:rPr lang="en-US" sz="3200" b="1" u="sng" dirty="0"/>
              <a:t>:</a:t>
            </a:r>
          </a:p>
          <a:p>
            <a:pPr algn="just"/>
            <a:endParaRPr lang="en-US" sz="1600" b="1" u="sng"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Health Empowerment</a:t>
            </a:r>
            <a:r>
              <a:rPr lang="en-US" sz="1500" dirty="0">
                <a:latin typeface="Calibri" panose="020F0502020204030204" pitchFamily="34" charset="0"/>
                <a:ea typeface="Calibri" panose="020F0502020204030204" pitchFamily="34" charset="0"/>
                <a:cs typeface="Calibri" panose="020F0502020204030204" pitchFamily="34" charset="0"/>
              </a:rPr>
              <a:t>: Gen Z values personalized experiences and self-management. By tracking their lifestyle data and providing AI-driven health insights, they can actively manage their health and make informed decisions, aligning with their preference for personalized and tech-driven solutions.</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Engagement through Rewards</a:t>
            </a:r>
            <a:r>
              <a:rPr lang="en-US" sz="1500" dirty="0">
                <a:latin typeface="Calibri" panose="020F0502020204030204" pitchFamily="34" charset="0"/>
                <a:ea typeface="Calibri" panose="020F0502020204030204" pitchFamily="34" charset="0"/>
                <a:cs typeface="Calibri" panose="020F0502020204030204" pitchFamily="34" charset="0"/>
              </a:rPr>
              <a:t>: Gen Z is motivated by digital rewards and experiences. Personalized incentives like movie tickets, Netflix subscriptions, and gaming access cater to their interests and encourage ongoing engagement and making them to create awareness with health goals and app usage.</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Social Awareness</a:t>
            </a:r>
            <a:r>
              <a:rPr lang="en-US" sz="1500" dirty="0">
                <a:latin typeface="Calibri" panose="020F0502020204030204" pitchFamily="34" charset="0"/>
                <a:ea typeface="Calibri" panose="020F0502020204030204" pitchFamily="34" charset="0"/>
                <a:cs typeface="Calibri" panose="020F0502020204030204" pitchFamily="34" charset="0"/>
              </a:rPr>
              <a:t>: This generation is highly socially conscious. Offering charitable experiences for those showing significant health improvements resonates with their values, as it reflects a commitment to social responsibility and community support.</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Interactive Experience</a:t>
            </a:r>
            <a:r>
              <a:rPr lang="en-US" sz="1500" dirty="0">
                <a:latin typeface="Calibri" panose="020F0502020204030204" pitchFamily="34" charset="0"/>
                <a:ea typeface="Calibri" panose="020F0502020204030204" pitchFamily="34" charset="0"/>
                <a:cs typeface="Calibri" panose="020F0502020204030204" pitchFamily="34" charset="0"/>
              </a:rPr>
              <a:t>: Gen Z thrives on interactive experiences.</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Seamless Integration</a:t>
            </a:r>
            <a:r>
              <a:rPr lang="en-US" sz="1500" dirty="0">
                <a:latin typeface="Calibri" panose="020F0502020204030204" pitchFamily="34" charset="0"/>
                <a:ea typeface="Calibri" panose="020F0502020204030204" pitchFamily="34" charset="0"/>
                <a:cs typeface="Calibri" panose="020F0502020204030204" pitchFamily="34" charset="0"/>
              </a:rPr>
              <a:t>: Gen Z expects seamless, technology-driven solutions. The app’s integration of lifestyle tracking, AI advice, and real-time data sharing with doctors meets their as well as NCD Patients demand for cohesive experiences.</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Positive Brand Perception</a:t>
            </a:r>
            <a:r>
              <a:rPr lang="en-US" sz="1500" dirty="0">
                <a:latin typeface="Calibri" panose="020F0502020204030204" pitchFamily="34" charset="0"/>
                <a:ea typeface="Calibri" panose="020F0502020204030204" pitchFamily="34" charset="0"/>
                <a:cs typeface="Calibri" panose="020F0502020204030204" pitchFamily="34" charset="0"/>
              </a:rPr>
              <a:t>: By addressing health needs and offering personalized rewards and charitable experiences, the platform enhances its appeal to Gen Z and NCD Patients that offer value and social impact.</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Lifestyle Changes to Decrease NCDs</a:t>
            </a:r>
            <a:r>
              <a:rPr lang="en-US" sz="1500" dirty="0">
                <a:latin typeface="Calibri" panose="020F0502020204030204" pitchFamily="34" charset="0"/>
                <a:ea typeface="Calibri" panose="020F0502020204030204" pitchFamily="34" charset="0"/>
                <a:cs typeface="Calibri" panose="020F0502020204030204" pitchFamily="34" charset="0"/>
              </a:rPr>
              <a:t>: The app promotes healthy habits such as regular exercise, balanced nutrition, and adequate sleep, which are crucial in preventing and managing non-communicable diseases (NCDs) like diabetes, cardiovascular conditions, and obesity.</a:t>
            </a:r>
          </a:p>
          <a:p>
            <a:pPr marL="342900" indent="-342900" algn="just">
              <a:buAutoNum type="arabicPeriod"/>
            </a:pPr>
            <a:r>
              <a:rPr lang="en-US" sz="1500" b="1" dirty="0">
                <a:latin typeface="Calibri" panose="020F0502020204030204" pitchFamily="34" charset="0"/>
                <a:ea typeface="Calibri" panose="020F0502020204030204" pitchFamily="34" charset="0"/>
                <a:cs typeface="Calibri" panose="020F0502020204030204" pitchFamily="34" charset="0"/>
              </a:rPr>
              <a:t>Precautions Against NCDs</a:t>
            </a:r>
            <a:r>
              <a:rPr lang="en-US" sz="1500" dirty="0">
                <a:latin typeface="Calibri" panose="020F0502020204030204" pitchFamily="34" charset="0"/>
                <a:ea typeface="Calibri" panose="020F0502020204030204" pitchFamily="34" charset="0"/>
                <a:cs typeface="Calibri" panose="020F0502020204030204" pitchFamily="34" charset="0"/>
              </a:rPr>
              <a:t>: The app includes features to raise awareness about risk factors, provide preventive tips, and encourage regular health check-ups, helping users take proactive steps to avoid or manage NCDs.</a:t>
            </a:r>
          </a:p>
        </p:txBody>
      </p:sp>
    </p:spTree>
    <p:extLst>
      <p:ext uri="{BB962C8B-B14F-4D97-AF65-F5344CB8AC3E}">
        <p14:creationId xmlns:p14="http://schemas.microsoft.com/office/powerpoint/2010/main" val="3272819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riangular abstract background">
            <a:extLst>
              <a:ext uri="{FF2B5EF4-FFF2-40B4-BE49-F238E27FC236}">
                <a16:creationId xmlns:a16="http://schemas.microsoft.com/office/drawing/2014/main" id="{6463BCA7-ACDB-5BB3-EA2C-374FF0A54268}"/>
              </a:ext>
            </a:extLst>
          </p:cNvPr>
          <p:cNvPicPr>
            <a:picLocks noChangeAspect="1"/>
          </p:cNvPicPr>
          <p:nvPr/>
        </p:nvPicPr>
        <p:blipFill>
          <a:blip r:embed="rId2"/>
          <a:srcRect t="15730"/>
          <a:stretch/>
        </p:blipFill>
        <p:spPr>
          <a:xfrm>
            <a:off x="20" y="-4"/>
            <a:ext cx="12191980" cy="6858004"/>
          </a:xfrm>
          <a:prstGeom prst="rect">
            <a:avLst/>
          </a:prstGeom>
        </p:spPr>
      </p:pic>
      <p:sp>
        <p:nvSpPr>
          <p:cNvPr id="5" name="TextBox 4">
            <a:extLst>
              <a:ext uri="{FF2B5EF4-FFF2-40B4-BE49-F238E27FC236}">
                <a16:creationId xmlns:a16="http://schemas.microsoft.com/office/drawing/2014/main" id="{AAF886A2-0DCD-8229-49BE-3DCC90A8B6A2}"/>
              </a:ext>
            </a:extLst>
          </p:cNvPr>
          <p:cNvSpPr txBox="1"/>
          <p:nvPr/>
        </p:nvSpPr>
        <p:spPr>
          <a:xfrm>
            <a:off x="1141343" y="305066"/>
            <a:ext cx="9909313" cy="6247864"/>
          </a:xfrm>
          <a:prstGeom prst="rect">
            <a:avLst/>
          </a:prstGeom>
          <a:noFill/>
        </p:spPr>
        <p:txBody>
          <a:bodyPr wrap="square" rtlCol="0">
            <a:spAutoFit/>
          </a:bodyPr>
          <a:lstStyle/>
          <a:p>
            <a:pPr algn="ctr"/>
            <a:r>
              <a:rPr lang="en-US" sz="20000" dirty="0">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3583021914"/>
      </p:ext>
    </p:extLst>
  </p:cSld>
  <p:clrMapOvr>
    <a:masterClrMapping/>
  </p:clrMapOvr>
</p:sld>
</file>

<file path=ppt/theme/theme1.xml><?xml version="1.0" encoding="utf-8"?>
<a:theme xmlns:a="http://schemas.openxmlformats.org/drawingml/2006/main" name="CitationVTI">
  <a:themeElements>
    <a:clrScheme name="AnalogousFromRegularSeed_2SEEDS">
      <a:dk1>
        <a:srgbClr val="000000"/>
      </a:dk1>
      <a:lt1>
        <a:srgbClr val="FFFFFF"/>
      </a:lt1>
      <a:dk2>
        <a:srgbClr val="3D2229"/>
      </a:dk2>
      <a:lt2>
        <a:srgbClr val="E2E5E8"/>
      </a:lt2>
      <a:accent1>
        <a:srgbClr val="D56A17"/>
      </a:accent1>
      <a:accent2>
        <a:srgbClr val="E72D29"/>
      </a:accent2>
      <a:accent3>
        <a:srgbClr val="B8A221"/>
      </a:accent3>
      <a:accent4>
        <a:srgbClr val="14B4A3"/>
      </a:accent4>
      <a:accent5>
        <a:srgbClr val="29ADE7"/>
      </a:accent5>
      <a:accent6>
        <a:srgbClr val="174CD5"/>
      </a:accent6>
      <a:hlink>
        <a:srgbClr val="3F87BF"/>
      </a:hlink>
      <a:folHlink>
        <a:srgbClr val="7F7F7F"/>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docProps/app.xml><?xml version="1.0" encoding="utf-8"?>
<Properties xmlns="http://schemas.openxmlformats.org/officeDocument/2006/extended-properties" xmlns:vt="http://schemas.openxmlformats.org/officeDocument/2006/docPropsVTypes">
  <TotalTime>322</TotalTime>
  <Words>1229</Words>
  <Application>Microsoft Office PowerPoint</Application>
  <PresentationFormat>Widescreen</PresentationFormat>
  <Paragraphs>65</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Berlin Sans FB</vt:lpstr>
      <vt:lpstr>Calibri</vt:lpstr>
      <vt:lpstr>Calisto MT</vt:lpstr>
      <vt:lpstr>Grandview</vt:lpstr>
      <vt:lpstr>Grandview Display</vt:lpstr>
      <vt:lpstr>CitationVTI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SINHA</dc:creator>
  <cp:lastModifiedBy>AMAN SINHA</cp:lastModifiedBy>
  <cp:revision>41</cp:revision>
  <dcterms:created xsi:type="dcterms:W3CDTF">2024-09-01T05:49:24Z</dcterms:created>
  <dcterms:modified xsi:type="dcterms:W3CDTF">2024-09-01T11:12:07Z</dcterms:modified>
</cp:coreProperties>
</file>